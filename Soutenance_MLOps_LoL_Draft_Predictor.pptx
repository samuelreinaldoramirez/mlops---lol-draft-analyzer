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toutes et à tous. Nous présentons notre projet MLOps : LoL Draft Predictor, réalisé à trois — Aïssam, Samuel et Guilhem. L'objectif : estimer la probabilité de victoire d'une partie de League of Legends à partir de la draft et des données d'early game, et surtout industrialiser ce modèle dans une chaîne MLOps complète, reproductible et observable. Nous suivrons les 4 phases de la feuille de route. Le fil rouge : ce n'est pas la performance brute du modèle qui compte, mais la qualité de l'industrialisation autour.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plan. Cadrage et objectifs d'abord, puis l'architecture des 6 services. Le cœur de la soutenance suit les 4 phases. On finit par une démo, le bilan avec nos limites assumées, puis vos questions. Un point que nous assumons d'emblée : nous serons transparents sur ce qui est démontrable en direct et ce qui est documenté.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League of Legends oppose deux équipes de cinq, qui draftent chacune cinq champions. Notre question : estimer la probabilité de victoire de l'équipe bleue. On a deux familles de modèles : un modèle de draft, utilisable avant la partie, et des modèles 'timeline' aux minutes 5, 10, 15 et 20. Logiquement, plus on avance dans la partie, plus la prédiction est fiable — l'écart d'or et les objectifs pris deviennent très informatifs. Le graphe à droite illustre cette montée en AUC. Et c'est un terrain MLOps idéal : la méta évolue à chaque patch, ce qui justifie le re-entraînement et la surveillance de dérive.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familles d'objectifs. Côté data science : servir les modèles draft et timeline, mesurés par accuracy et ROC-AUC — de 0.56 sur la draft seule à 0.89 à 20 minutes. Mais le cœur du projet, ce qui est réellement évalué en MLOps, ce sont les quatre piliers de droite : reproductibilité — tout est dockerisé et 47 tests tournent sans Docker ni base ; traçabilité via MLflow et DVC ; automatisation par la CI et le Makefile ; et observabilité avec Prometheus, Grafana et la détection de dérive. Le modèle est volontairement servi tel quel ; notre valeur ajoutée est l'industrialisation.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Notre plateforme, c'est 6 services Docker organisés en trois flux. En haut, le flux data/ML : Postgres stocke les matchs, le service training entraîne les modèles XGBoost et LightGBM en loggant dans MLflow ; les modèles et la pipeline data sont versionnés (MLflow Registry pour les modèles, DVC pour les données). Au milieu, le serving : l'API FastAPI sert les prédictions, consommée par l'UI Streamlit ; le Makefile orchestre tout ; Prometheus scrape les métriques et Grafana les affiche. En bas, la qualité : CI GitHub Actions, 47 tests pytest, et Evidently pour la dérive. Point d'ingénierie important, en bas : MLflow, Prometheus et Evidently sont en 'fail-safe NO-OP' — si un service est absent, l'inférence et les tests continuent de fonctionner. On a aussi des manifests Kubernetes prêts, hors démo.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stack est standard et open-source, proche des pratiques industrielles. Python avec XGBoost et LightGBM pour le ML — pas de réseau de neurones, des modèles d'arbres efficaces et explicables. FastAPI et Streamlit pour le serving et l'UI. Au cœur MLOps : MLflow, DVC et Evidently. Prometheus et Grafana pour l'observabilité. GitHub Actions, pytest et ruff pour la qualité. Et Docker Compose pour tout faire tourner ensemble, avec des manifests Kubernetes en kustomize pour la cible.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phases. Phase 1 : les fondations — base reproductible, données et features, modèles servis, tests, API. Phase 2 : le suivi et le versioning — MLflow et son registry, DVC, et un wrapper fail-safe. Phase 3 : l'orchestration et le déploiement — CI GitHub Actions, orchestration via Makefile, et manifests Kubernetes. Phase 4 : monitoring et maintenance — Prometheus, Grafana, dérive avec Evidently, et un hook de re-entraînement. Détaillons chaque phase.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1, les fondations. L'enjeu : une base saine et reproductible. On pose Docker Compose, l'API d'inférence FastAPI qui sert les modèles existants, une suite de 47 tests qui tourne sans Docker ni base de données, le pipeline de données et features, et l'hygiène du dépôt — aucun secret commité, le dump de 747 Mo est fourni séparément. Trois slides suivent : données, modèles, 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données viennent des matchs et de leur timeline, fournis par Riot et stockés dans Postgres — un dump de 747 Mo. Chaque modèle utilise environ 153 features. On les découpe en deux : environ 69 features 'champion' — winrate, tier et pickrate externes, matchups par lane, scores de synergie et de counter, avantage de draft ; et environ 84 features 'invocateur' liées aux joueurs. Point honnête et important : une requête de draft ne porte pas d'identité de joueur, pas de PUUID, donc les 84 features invocateur restent à des valeurs neutres par défaut. À droite, le flux concret : des noms de champions, résolus en identifiants via un fichier statique, puis les features champion construites à partir des tables embarquées dans le modèle. Résultat : la prédiction varie réellement avec la draft, par exemple 0.54 contre 0.72.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cinq modèles servis et leurs performances réelles. Le modèle de draft, en XGBoost, plafonne à 54% d'accuracy et 0.555 d'AUC — c'est normal, il y a peu de signal exploitable avant la partie. Les modèles timeline montent ensuite : 0.72 d'AUC à 5 minutes, jusqu'à 0.885 à 20 minutes, en XGBoost et LightGBM. Tous sont des modèles d'arbres avec boosting : efficaces et explicables. Je tiens à être clair : le KPI de la Phase 1 n'était pas d'améliorer ces chiffres, mais de garantir la reproductibilité — la stack qui se lance et 47 tests verts.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serving passe par une API FastAPI avec validation Pydantic. Les routes : /health et /models pour la supervision, /predict/at/minute pour la prédiction timeline — entièrement câblée à ses features, /predict/draft qui prend une composition et renvoie une proba variable, plus /stats/overview et /metrics. À droite, un exemple : on envoie l'écart d'or et quelques objectifs à 10 minutes, on récupère une probabilité de victoire. Et surtout : 47 tests tournent hors Docker, modèles et base mockés — c'est notre filet de sécurité pour la CI.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 rendre tout traçable et versionné. MLflow centralise le suivi des expériences. Le Model Registry versionne les modèles promus. DVC versionne les données et la pipeline. Et un point d'ingénierie dont on est fiers : un wrapper fail-safe autour de MLflow, qui dégrade en NO-OP si le serveur est absent ou injoignable — les tests et l'inférence ne cassent jamais.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Cœur de la phase 2 : MLflow. Le tracking server n'est pas en local, il est adossé à Postgres, donc les métadonnées persistent. Chaque entraînement crée un run avec params, métriques et artefact, ce qui permet de comparer les modèles. Les modèles sont enregistrés et versionnés dans le Registry, sous les noms lol_draft_at5 à at20, avec promotion de stage manuelle. En parallèle, DVC versionne les données et la pipeline via dvc.yaml. Enfin, notre wrapper fail-safe est couvert par 11 tests : il garantit le comportement NO-OP et le fast-fail quand le serveur MLflow est injoignable. Caveat honnête : un vrai run de training nécessite la base et le dump ; sans eux, MLflow est en NO-OP — le câblage est prouvé par les tests.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3 : l'automatisation et le déploiement. Une CI GitHub Actions à chaque push. Une orchestration de bout en bout via un Makefile, avec une cible par étape. Tout est conteneurisé en 6 services. Et on a écrit des manifests Kubernetes complets en kustomize, validés par kubeconform — déployables, mais hors démo : la démo tourne sur Docker Compose.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L'automatisation repose sur deux outils. D'abord la CI GitHub Actions, à chaque push et pull request, en trois jobs : lint avec ruff, test avec les 47 pytest sans Docker ni base, et build qui construit toutes les images Docker — et qui ne s'exécute que si les tests passent. Caveat honnête : le lint est volontairement non-bloquant — avec --exit-zero — pour signaler la dette sans réécrire du code qui marche ; on durcira plus tard. Ensuite, le Makefile orchestre tout le pipeline localement : 'make demo' enchaîne base, restauration, démarrage, seed et training ; et on a des cibles dédiées pour le monitoring, la dérive, le re-entraînement et la validation Kubernetes.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 déploiement cible, on a écrit des manifests Kubernetes complets en kustomize, organisés en trois couches : base, monitoring, ingress — environ 32 ressources. On y trouve Postgres en StatefulSet, l'API et Streamlit en Deployments avec autoscaling horizontal, MLflow, Prometheus et Grafana provisionnés, et un vrai durcissement sécurité : Ingress TLS, NetworkPolicy default-deny, pods non-root. Tout est validé hors cluster par kubeconform — 32 sur 32. Soyons clairs et honnêtes, à droite : la démo tourne sur Docker Compose ; Kubernetes est l'environnement cible, validé côté schéma mais pas déployé sur un cluster live. La prochaine étape serait un registry d'images, les secrets, et les modèles montés via PVC.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4 : faire vivre le système. On supervise l'API avec Prometheus et Grafana, avec une métrique métier dédiée — le nombre de prédictions par modèle. On détecte la dérive avec Evidently. Et on a un hook de re-entraînement piloté par la dérive : si la dérive dépasse un seuil, il décide de re-entraîner.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pilier : l'observabilité — deux briques distinctes qu'il ne faut pas confondre. D'abord le monitoring runtime : l'API est instrumentée via prometheus-fastapi-instrumentator et expose /metrics — compteurs et latences HTTP plus la métrique métier lol_predictions_total étiquetée par modèle. Prometheus scrape api:8000/metrics toutes les 15 secondes via le DNS du réseau lol-net, et Grafana est auto-provisionné (datasource + dashboard). Ensuite la dérive : Evidently compare un jeu de référence (données d'entraînement) à un jeu courant sur 6 features numériques — le gold_diff global à 10 minutes plus les 5 gold diffs par rôle — avec un split temporel 70/30 sur l'ordre des match_id. Le DataDriftPreset sort un drift_share entre 0 et 1, plus un rapport HTML et JSON. Le hook auto_retrain est 'gated' : si drift_share dépasse le seuil de 0.5 (surchargeable par variable d'env), il déclenche le ré-entraînement via l'entrypoint docker compose existant ; sinon NO-OP. Tout est fail-safe : sans Evidently le module dégrade en NO-OP, sans libs Prometheus /metrics renvoie un stub 200. Caveat : par défaut la dérive tourne en synthétique (drift_share ≈ 0) ; la vraie base n'est lue que si DRIFT_USE_DB=1 avec un pré-check TCP de 3 secondes.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scénario que nous déroulerons. D'abord les 47 tests offline, en quelques secondes, sans rien d'autre que Python. Puis 'make demo' qui lève les 6 services. Une prédiction en direct via /predict/at/10 et l'UI Streamlit — à droite, un aperçu de la page de prédiction. Ensuite MLflow pour la traçabilité, les runs et les versions du registry. Le dashboard Grafana qui bouge en temps réel quand on enchaîne les prédictions. Et enfin la dérive : 'make drift' génère un rapport Evidently, 'make retrain' affiche la décision gated. Astuce : on garde des captures de secours au cas où une étape live poserait problème.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bilan : une chaîne MLOps complète et fonctionnelle. 6 services Docker orchestrés, 47 tests verts qui tournent hors Docker en CI, 5 modèles servis du draft à 20 minutes, 3 jobs d'intégration continue, jusqu'à 0.89 d'AUC sur le modèle le plus tardif, et environ 32 ressources Kubernetes prêtes. Le projet couvre tout le cycle de vie : données, entraînement, tracking, versioning, serving, CI, monitoring et dérive.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présentons nos limites honnêtement — c'est ce qu'attend un jury MLOps. Les 84 features invocateur restent neutres car une requête de draft n'a pas d'identité joueur. Le modèle de draft plafonne à 0.54 par nature. Kubernetes n'est pas déployé sur un cluster live, seulement validé côté schéma. Le lint CI est non-bloquant volontairement. Et la dérive en démo est synthétique. Côté perspectives, notre backlog est clair : un endpoint conscient de l'identité pour câbler les features invocateur, promouvoir Kubernetes en cluster réel, brancher la dérive sur la vraie base avec re-entraînement de bout en bout, durcir le lint, et activer la collecte Riot en direct. L'ossature MLOps est en place et extensible.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de votre attention. Pour résumer : nous avons construit un pipeline MLOps complet, des données jusqu'au monitoring en production, avec tracking, versioning, CI, monitoring et détection de dérive — et nous avons été transparents sur nos limites. Nous sommes à votre disposition pour vos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Anticipation des questions. Sur les 54% de la draft : c'est attendu, peu de signal avant la partie, et features invocateur neutres ; les modèles timeline compensent. Sur la reproductibilité : Docker, DVC, MLflow Registry, 47 tests offline. Sur l'absence de MLflow/Prometheus : wrapper fail-safe NO-OP, couvert par 11 tests. Sur Airflow : on a fait le choix Makefile + DVC, suffisant pour le périmètre, Airflow serait l'étape suivante.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Suite. Sur le choix du modèle servi : chargé depuis le volume, /models liste, /predict/at route par minute, et le Registry versionne. Sur la dynamicité de la draft : oui, 69 features champion construites à la volée, deux drafts donnent des probabilités différentes. Sur Kubernetes : on assume — manifests validés mais démo sur Compose. Sur Prometheus vs MLflow : offline versus temps réel, complémentaires. Garder son calme et proposer de montrer dans le code si besoin.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secours si le jury creuse le drift. Deux scripts. A : drift_report.py compare référence — les données d'entraînement — et courant — les données récentes — sur 6 features numériques : le gold_diff global à 10 minutes et les 5 gold diffs par rôle. Le split est temporel, 70/30 sur l'ordre des match_id. Evidently, via son DataDriftPreset, sort une part de colonnes driftées, le drift_share, plus un rapport HTML et JSON dans monitoring/drift/reports. B : auto_retrain.py est purement gated : si drift_share dépasse 0.5 — seuil surchargeable par DRIFT_THRESHOLD — il déclenche le ré-entraînement via l'entrypoint docker compose existant ; sinon il ne fait rien. Le déclencheur est injectable donc mocké en tests. À droite, la philosophie fail-safe : synthétique par défaut, base seulement si DRIFT_USE_DB=1 avec pré-check TCP, NO-OP sans Evidently, stub 200 sans libs Prometheus. Et sur données synthétiques normales le drift_share est proche de zéro — d'où le flag --force-drift pour la démo.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runbook des commandes, à garder sous la main pendant la démo. Pré-requis unique : cp .env.example .env. La dérive et le retrain en dry-run tournent sans Docker ni dump — juste les requirements Python. make drift génère le rapport synthétique ; --drift force un courant drifté pour la démo ; DRIFT_USE_DB=1 branche la vraie base. make retrain est un dry-run qui décide sans jamais entraîner ; --force-drift déclenche un vrai retrain si la stack est là ; --threshold ajuste le seuil. Pour le monitoring : make monitoring-up, on génère du trafic avec curl, puis Prometheus sur le port 9090 avec la requête lol_predictions_total, et Grafana sur 3000. Enfin, les trois fichiers de tests valident toute la chaîne hors Docker.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331720"/>
            <a:ext cx="12191695" cy="196596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381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270248"/>
            <a:ext cx="12191695" cy="381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1051560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600" b="1">
                <a:solidFill>
                  <a:srgbClr val="0AC8B9"/>
                </a:solidFill>
                <a:latin typeface="Calibri"/>
              </a:rPr>
              <a:t>PROJET MLOPS · DATASCIENTEST · 2026</a:t>
            </a:r>
          </a:p>
        </p:txBody>
      </p:sp>
      <p:sp>
        <p:nvSpPr>
          <p:cNvPr id="7" name="TextBox 6"/>
          <p:cNvSpPr txBox="1"/>
          <p:nvPr/>
        </p:nvSpPr>
        <p:spPr>
          <a:xfrm>
            <a:off x="822960" y="2542032"/>
            <a:ext cx="10515600" cy="9144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5000" b="1">
                <a:solidFill>
                  <a:srgbClr val="C8AA6E"/>
                </a:solidFill>
                <a:latin typeface="Calibri"/>
              </a:rPr>
              <a:t>LoL Draft Predictor</a:t>
            </a:r>
          </a:p>
        </p:txBody>
      </p:sp>
      <p:sp>
        <p:nvSpPr>
          <p:cNvPr id="8" name="TextBox 7"/>
          <p:cNvSpPr txBox="1"/>
          <p:nvPr/>
        </p:nvSpPr>
        <p:spPr>
          <a:xfrm>
            <a:off x="841248" y="3456432"/>
            <a:ext cx="10607040" cy="64008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700" b="0">
                <a:solidFill>
                  <a:srgbClr val="F0E6D2"/>
                </a:solidFill>
                <a:latin typeface="Calibri"/>
              </a:rPr>
              <a:t>Analyseur de probabilité de victoire (draft + early game) — packagé dans une stack MLOps reproductible &amp; observable</a:t>
            </a:r>
          </a:p>
        </p:txBody>
      </p:sp>
      <p:sp>
        <p:nvSpPr>
          <p:cNvPr id="9" name="TextBox 8"/>
          <p:cNvSpPr txBox="1"/>
          <p:nvPr/>
        </p:nvSpPr>
        <p:spPr>
          <a:xfrm>
            <a:off x="822960" y="4572000"/>
            <a:ext cx="1051560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0">
                <a:solidFill>
                  <a:srgbClr val="A09B8C"/>
                </a:solidFill>
                <a:latin typeface="Calibri"/>
              </a:rPr>
              <a:t>Tracking · Versioning · CI · Orchestration · Monitoring · Détection de dérive</a:t>
            </a:r>
          </a:p>
        </p:txBody>
      </p:sp>
      <p:sp>
        <p:nvSpPr>
          <p:cNvPr id="10" name="TextBox 9"/>
          <p:cNvSpPr txBox="1"/>
          <p:nvPr/>
        </p:nvSpPr>
        <p:spPr>
          <a:xfrm>
            <a:off x="822960" y="5897880"/>
            <a:ext cx="1051560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a:solidFill>
                  <a:srgbClr val="F0E6D2"/>
                </a:solidFill>
                <a:latin typeface="Calibri"/>
              </a:rPr>
              <a:t>Aïssam · Samuel · Guilhem</a:t>
            </a:r>
            <a:r>
              <a:rPr sz="1300" b="0">
                <a:solidFill>
                  <a:srgbClr val="A09B8C"/>
                </a:solidFill>
                <a:latin typeface="Calibri"/>
              </a:rPr>
              <a:t>      Soutenance — 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SOMMAIRE</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Au programme</a:t>
            </a:r>
          </a:p>
        </p:txBody>
      </p:sp>
      <p:sp>
        <p:nvSpPr>
          <p:cNvPr id="6" name="Rounded Rectangle 5"/>
          <p:cNvSpPr/>
          <p:nvPr/>
        </p:nvSpPr>
        <p:spPr>
          <a:xfrm>
            <a:off x="54864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1792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011680"/>
            <a:ext cx="4846320" cy="3840480"/>
          </a:xfrm>
          <a:prstGeom prst="rect">
            <a:avLst/>
          </a:prstGeom>
          <a:noFill/>
        </p:spPr>
        <p:txBody>
          <a:bodyPr wrap="square">
            <a:spAutoFit/>
          </a:bodyPr>
          <a:lstStyle/>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1 · Contexte &amp; problématique</a:t>
            </a:r>
            <a:r>
              <a:rPr sz="1500">
                <a:solidFill>
                  <a:srgbClr val="A09B8C"/>
                </a:solidFill>
                <a:latin typeface="Calibri"/>
              </a:rPr>
              <a:t>  —  ce que le modèle prédit</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2 · Objectifs &amp; KPI</a:t>
            </a:r>
            <a:r>
              <a:rPr sz="1500">
                <a:solidFill>
                  <a:srgbClr val="A09B8C"/>
                </a:solidFill>
                <a:latin typeface="Calibri"/>
              </a:rPr>
              <a:t>  —  cibles ML et MLOps</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3 · Architecture &amp; stack</a:t>
            </a:r>
            <a:r>
              <a:rPr sz="1500">
                <a:solidFill>
                  <a:srgbClr val="A09B8C"/>
                </a:solidFill>
                <a:latin typeface="Calibri"/>
              </a:rPr>
              <a:t>  —  6 services Docker</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4 · Roadmap en 4 phases</a:t>
            </a:r>
            <a:r>
              <a:rPr sz="1500">
                <a:solidFill>
                  <a:srgbClr val="A09B8C"/>
                </a:solidFill>
                <a:latin typeface="Calibri"/>
              </a:rPr>
              <a:t>  —  fil conducteur</a:t>
            </a:r>
          </a:p>
        </p:txBody>
      </p:sp>
      <p:sp>
        <p:nvSpPr>
          <p:cNvPr id="9" name="TextBox 8"/>
          <p:cNvSpPr txBox="1"/>
          <p:nvPr/>
        </p:nvSpPr>
        <p:spPr>
          <a:xfrm>
            <a:off x="6537960" y="2011680"/>
            <a:ext cx="4846320" cy="3840480"/>
          </a:xfrm>
          <a:prstGeom prst="rect">
            <a:avLst/>
          </a:prstGeom>
          <a:noFill/>
        </p:spPr>
        <p:txBody>
          <a:bodyPr wrap="square">
            <a:spAutoFit/>
          </a:bodyPr>
          <a:lstStyle/>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5 · Phases 1 → 4</a:t>
            </a:r>
            <a:r>
              <a:rPr sz="1500">
                <a:solidFill>
                  <a:srgbClr val="A09B8C"/>
                </a:solidFill>
                <a:latin typeface="Calibri"/>
              </a:rPr>
              <a:t>  —  API, MLflow, CI, K8s, monitoring, drift</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6 · Démonstration</a:t>
            </a:r>
            <a:r>
              <a:rPr sz="1500">
                <a:solidFill>
                  <a:srgbClr val="A09B8C"/>
                </a:solidFill>
                <a:latin typeface="Calibri"/>
              </a:rPr>
              <a:t>  —  scénario de bout en bout</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7 · Bilan &amp; limites assumées</a:t>
            </a:r>
            <a:r>
              <a:rPr sz="1500">
                <a:solidFill>
                  <a:srgbClr val="A09B8C"/>
                </a:solidFill>
                <a:latin typeface="Calibri"/>
              </a:rPr>
              <a:t>  —  résultats + backlog honnête</a:t>
            </a:r>
          </a:p>
          <a:p>
            <a:pPr>
              <a:lnSpc>
                <a:spcPct val="105000"/>
              </a:lnSpc>
              <a:spcBef>
                <a:spcPts val="0"/>
              </a:spcBef>
              <a:spcAft>
                <a:spcPts val="1700"/>
              </a:spcAft>
            </a:pPr>
            <a:r>
              <a:rPr sz="1600" b="1">
                <a:solidFill>
                  <a:srgbClr val="0AC8B9"/>
                </a:solidFill>
                <a:latin typeface="Calibri"/>
              </a:rPr>
              <a:t>▸ </a:t>
            </a:r>
            <a:r>
              <a:rPr sz="1600" b="1">
                <a:solidFill>
                  <a:srgbClr val="F0E6D2"/>
                </a:solidFill>
                <a:latin typeface="Calibri"/>
              </a:rPr>
              <a:t>8 · Questions / Réponses</a:t>
            </a:r>
            <a:r>
              <a:rPr sz="1500">
                <a:solidFill>
                  <a:srgbClr val="A09B8C"/>
                </a:solidFill>
                <a:latin typeface="Calibri"/>
              </a:rPr>
              <a:t>  —  échange avec le jury</a:t>
            </a:r>
          </a:p>
        </p:txBody>
      </p:sp>
      <p:sp>
        <p:nvSpPr>
          <p:cNvPr id="10" name="TextBox 9"/>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1" name="TextBox 10"/>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1 · CONTEXTE</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Le problème métier</a:t>
            </a:r>
          </a:p>
        </p:txBody>
      </p:sp>
      <p:sp>
        <p:nvSpPr>
          <p:cNvPr id="6" name="Rounded Rectangle 5"/>
          <p:cNvSpPr/>
          <p:nvPr/>
        </p:nvSpPr>
        <p:spPr>
          <a:xfrm>
            <a:off x="548640" y="1691640"/>
            <a:ext cx="64008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5852160" cy="3931920"/>
          </a:xfrm>
          <a:prstGeom prst="rect">
            <a:avLst/>
          </a:prstGeom>
          <a:noFill/>
        </p:spPr>
        <p:txBody>
          <a:bodyPr wrap="square">
            <a:spAutoFit/>
          </a:bodyPr>
          <a:lstStyle/>
          <a:p>
            <a:pPr>
              <a:lnSpc>
                <a:spcPct val="105000"/>
              </a:lnSpc>
              <a:spcBef>
                <a:spcPts val="0"/>
              </a:spcBef>
              <a:spcAft>
                <a:spcPts val="1400"/>
              </a:spcAft>
            </a:pPr>
            <a:r>
              <a:rPr sz="1450" b="1">
                <a:solidFill>
                  <a:srgbClr val="0AC8B9"/>
                </a:solidFill>
                <a:latin typeface="Calibri"/>
              </a:rPr>
              <a:t>▸ </a:t>
            </a:r>
            <a:r>
              <a:rPr sz="1450" b="1">
                <a:solidFill>
                  <a:srgbClr val="F0E6D2"/>
                </a:solidFill>
                <a:latin typeface="Calibri"/>
              </a:rPr>
              <a:t>League of Legends : 5v5, ~170 champions</a:t>
            </a:r>
            <a:r>
              <a:rPr sz="1350">
                <a:solidFill>
                  <a:srgbClr val="A09B8C"/>
                </a:solidFill>
                <a:latin typeface="Calibri"/>
              </a:rPr>
              <a:t>  —  chaque équipe drafte 5 champions sur 5 rôles</a:t>
            </a:r>
          </a:p>
          <a:p>
            <a:pPr>
              <a:lnSpc>
                <a:spcPct val="105000"/>
              </a:lnSpc>
              <a:spcBef>
                <a:spcPts val="0"/>
              </a:spcBef>
              <a:spcAft>
                <a:spcPts val="1400"/>
              </a:spcAft>
            </a:pPr>
            <a:r>
              <a:rPr sz="1450" b="1">
                <a:solidFill>
                  <a:srgbClr val="0AC8B9"/>
                </a:solidFill>
                <a:latin typeface="Calibri"/>
              </a:rPr>
              <a:t>▸ </a:t>
            </a:r>
            <a:r>
              <a:rPr sz="1450" b="1">
                <a:solidFill>
                  <a:srgbClr val="F0E6D2"/>
                </a:solidFill>
                <a:latin typeface="Calibri"/>
              </a:rPr>
              <a:t>Question : prédire la victoire de l'équipe bleue ?</a:t>
            </a:r>
            <a:r>
              <a:rPr sz="1350">
                <a:solidFill>
                  <a:srgbClr val="A09B8C"/>
                </a:solidFill>
                <a:latin typeface="Calibri"/>
              </a:rPr>
              <a:t>  —  probabilité estimée à partir de la draft et de l'early game</a:t>
            </a:r>
          </a:p>
          <a:p>
            <a:pPr>
              <a:lnSpc>
                <a:spcPct val="105000"/>
              </a:lnSpc>
              <a:spcBef>
                <a:spcPts val="0"/>
              </a:spcBef>
              <a:spcAft>
                <a:spcPts val="1400"/>
              </a:spcAft>
            </a:pPr>
            <a:r>
              <a:rPr sz="1450" b="1">
                <a:solidFill>
                  <a:srgbClr val="0AC8B9"/>
                </a:solidFill>
                <a:latin typeface="Calibri"/>
              </a:rPr>
              <a:t>▸ </a:t>
            </a:r>
            <a:r>
              <a:rPr sz="1450" b="1">
                <a:solidFill>
                  <a:srgbClr val="F0E6D2"/>
                </a:solidFill>
                <a:latin typeface="Calibri"/>
              </a:rPr>
              <a:t>Deux familles de modèles</a:t>
            </a:r>
            <a:r>
              <a:rPr sz="1350">
                <a:solidFill>
                  <a:srgbClr val="A09B8C"/>
                </a:solidFill>
                <a:latin typeface="Calibri"/>
              </a:rPr>
              <a:t>  —  Draft (avant la partie) + Timeline @5/10/15/20 min</a:t>
            </a:r>
          </a:p>
          <a:p>
            <a:pPr>
              <a:lnSpc>
                <a:spcPct val="105000"/>
              </a:lnSpc>
              <a:spcBef>
                <a:spcPts val="0"/>
              </a:spcBef>
              <a:spcAft>
                <a:spcPts val="1400"/>
              </a:spcAft>
            </a:pPr>
            <a:r>
              <a:rPr sz="1450" b="1">
                <a:solidFill>
                  <a:srgbClr val="0AC8B9"/>
                </a:solidFill>
                <a:latin typeface="Calibri"/>
              </a:rPr>
              <a:t>▸ </a:t>
            </a:r>
            <a:r>
              <a:rPr sz="1450" b="1">
                <a:solidFill>
                  <a:srgbClr val="F0E6D2"/>
                </a:solidFill>
                <a:latin typeface="Calibri"/>
              </a:rPr>
              <a:t>Plus on avance dans la partie, mieux on prédit</a:t>
            </a:r>
            <a:r>
              <a:rPr sz="1350">
                <a:solidFill>
                  <a:srgbClr val="A09B8C"/>
                </a:solidFill>
                <a:latin typeface="Calibri"/>
              </a:rPr>
              <a:t>  —  l'écart d'or et les objectifs deviennent informatifs</a:t>
            </a:r>
          </a:p>
          <a:p>
            <a:pPr>
              <a:lnSpc>
                <a:spcPct val="105000"/>
              </a:lnSpc>
              <a:spcBef>
                <a:spcPts val="0"/>
              </a:spcBef>
              <a:spcAft>
                <a:spcPts val="1400"/>
              </a:spcAft>
            </a:pPr>
            <a:r>
              <a:rPr sz="1450" b="1">
                <a:solidFill>
                  <a:srgbClr val="0AC8B9"/>
                </a:solidFill>
                <a:latin typeface="Calibri"/>
              </a:rPr>
              <a:t>▸ </a:t>
            </a:r>
            <a:r>
              <a:rPr sz="1450" b="1">
                <a:solidFill>
                  <a:srgbClr val="F0E6D2"/>
                </a:solidFill>
                <a:latin typeface="Calibri"/>
              </a:rPr>
              <a:t>Terrain MLOps idéal</a:t>
            </a:r>
            <a:r>
              <a:rPr sz="1350">
                <a:solidFill>
                  <a:srgbClr val="A09B8C"/>
                </a:solidFill>
                <a:latin typeface="Calibri"/>
              </a:rPr>
              <a:t>  —  la méta change à chaque patch → re-entraînement &amp; suivi de dérive</a:t>
            </a:r>
          </a:p>
        </p:txBody>
      </p:sp>
      <p:sp>
        <p:nvSpPr>
          <p:cNvPr id="8" name="Rounded Rectangle 7"/>
          <p:cNvSpPr/>
          <p:nvPr/>
        </p:nvSpPr>
        <p:spPr>
          <a:xfrm>
            <a:off x="7178040" y="1691640"/>
            <a:ext cx="443484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920240"/>
            <a:ext cx="40233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C8AA6E"/>
                </a:solidFill>
                <a:latin typeface="Calibri"/>
              </a:rPr>
              <a:t>PRÉCISION CROISSANTE</a:t>
            </a:r>
          </a:p>
        </p:txBody>
      </p:sp>
      <p:sp>
        <p:nvSpPr>
          <p:cNvPr id="10" name="TextBox 9"/>
          <p:cNvSpPr txBox="1"/>
          <p:nvPr/>
        </p:nvSpPr>
        <p:spPr>
          <a:xfrm>
            <a:off x="7406640" y="2468880"/>
            <a:ext cx="1188720" cy="36576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50" b="1">
                <a:solidFill>
                  <a:srgbClr val="F0E6D2"/>
                </a:solidFill>
                <a:latin typeface="Calibri"/>
              </a:rPr>
              <a:t>Draft</a:t>
            </a:r>
          </a:p>
        </p:txBody>
      </p:sp>
      <p:sp>
        <p:nvSpPr>
          <p:cNvPr id="11" name="Rounded Rectangle 10"/>
          <p:cNvSpPr/>
          <p:nvPr/>
        </p:nvSpPr>
        <p:spPr>
          <a:xfrm>
            <a:off x="8595360" y="2542032"/>
            <a:ext cx="2743200" cy="31089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595360" y="2542032"/>
            <a:ext cx="1508760" cy="31089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523744"/>
            <a:ext cx="2743200" cy="329184"/>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050" b="1">
                <a:solidFill>
                  <a:srgbClr val="0A1428"/>
                </a:solidFill>
                <a:latin typeface="Calibri"/>
              </a:rPr>
              <a:t>AUC 0.55</a:t>
            </a:r>
          </a:p>
        </p:txBody>
      </p:sp>
      <p:sp>
        <p:nvSpPr>
          <p:cNvPr id="14" name="TextBox 13"/>
          <p:cNvSpPr txBox="1"/>
          <p:nvPr/>
        </p:nvSpPr>
        <p:spPr>
          <a:xfrm>
            <a:off x="7406640" y="3182112"/>
            <a:ext cx="1188720" cy="36576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50" b="1">
                <a:solidFill>
                  <a:srgbClr val="F0E6D2"/>
                </a:solidFill>
                <a:latin typeface="Calibri"/>
              </a:rPr>
              <a:t>@5 min</a:t>
            </a:r>
          </a:p>
        </p:txBody>
      </p:sp>
      <p:sp>
        <p:nvSpPr>
          <p:cNvPr id="15" name="Rounded Rectangle 14"/>
          <p:cNvSpPr/>
          <p:nvPr/>
        </p:nvSpPr>
        <p:spPr>
          <a:xfrm>
            <a:off x="8595360" y="3255264"/>
            <a:ext cx="2743200" cy="31089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95360" y="3255264"/>
            <a:ext cx="1975104" cy="31089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3236976"/>
            <a:ext cx="2743200" cy="329184"/>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050" b="1">
                <a:solidFill>
                  <a:srgbClr val="0A1428"/>
                </a:solidFill>
                <a:latin typeface="Calibri"/>
              </a:rPr>
              <a:t>AUC 0.72</a:t>
            </a:r>
          </a:p>
        </p:txBody>
      </p:sp>
      <p:sp>
        <p:nvSpPr>
          <p:cNvPr id="18" name="TextBox 17"/>
          <p:cNvSpPr txBox="1"/>
          <p:nvPr/>
        </p:nvSpPr>
        <p:spPr>
          <a:xfrm>
            <a:off x="7406640" y="3895344"/>
            <a:ext cx="1188720" cy="36576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50" b="1">
                <a:solidFill>
                  <a:srgbClr val="F0E6D2"/>
                </a:solidFill>
                <a:latin typeface="Calibri"/>
              </a:rPr>
              <a:t>@10 min</a:t>
            </a:r>
          </a:p>
        </p:txBody>
      </p:sp>
      <p:sp>
        <p:nvSpPr>
          <p:cNvPr id="19" name="Rounded Rectangle 18"/>
          <p:cNvSpPr/>
          <p:nvPr/>
        </p:nvSpPr>
        <p:spPr>
          <a:xfrm>
            <a:off x="8595360" y="3968496"/>
            <a:ext cx="2743200" cy="31089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95360" y="3968496"/>
            <a:ext cx="2194560" cy="31089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0" y="3950208"/>
            <a:ext cx="2743200" cy="329184"/>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050" b="1">
                <a:solidFill>
                  <a:srgbClr val="0A1428"/>
                </a:solidFill>
                <a:latin typeface="Calibri"/>
              </a:rPr>
              <a:t>AUC 0.80</a:t>
            </a:r>
          </a:p>
        </p:txBody>
      </p:sp>
      <p:sp>
        <p:nvSpPr>
          <p:cNvPr id="22" name="TextBox 21"/>
          <p:cNvSpPr txBox="1"/>
          <p:nvPr/>
        </p:nvSpPr>
        <p:spPr>
          <a:xfrm>
            <a:off x="7406640" y="4608576"/>
            <a:ext cx="1188720" cy="36576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50" b="1">
                <a:solidFill>
                  <a:srgbClr val="F0E6D2"/>
                </a:solidFill>
                <a:latin typeface="Calibri"/>
              </a:rPr>
              <a:t>@15 min</a:t>
            </a:r>
          </a:p>
        </p:txBody>
      </p:sp>
      <p:sp>
        <p:nvSpPr>
          <p:cNvPr id="23" name="Rounded Rectangle 22"/>
          <p:cNvSpPr/>
          <p:nvPr/>
        </p:nvSpPr>
        <p:spPr>
          <a:xfrm>
            <a:off x="8595360" y="4681728"/>
            <a:ext cx="2743200" cy="31089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595360" y="4681728"/>
            <a:ext cx="2359152" cy="31089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0" y="4663440"/>
            <a:ext cx="2743200" cy="329184"/>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050" b="1">
                <a:solidFill>
                  <a:srgbClr val="0A1428"/>
                </a:solidFill>
                <a:latin typeface="Calibri"/>
              </a:rPr>
              <a:t>AUC 0.86</a:t>
            </a:r>
          </a:p>
        </p:txBody>
      </p:sp>
      <p:sp>
        <p:nvSpPr>
          <p:cNvPr id="26" name="TextBox 25"/>
          <p:cNvSpPr txBox="1"/>
          <p:nvPr/>
        </p:nvSpPr>
        <p:spPr>
          <a:xfrm>
            <a:off x="7406640" y="5321808"/>
            <a:ext cx="1188720" cy="36576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50" b="1">
                <a:solidFill>
                  <a:srgbClr val="F0E6D2"/>
                </a:solidFill>
                <a:latin typeface="Calibri"/>
              </a:rPr>
              <a:t>@20 min</a:t>
            </a:r>
          </a:p>
        </p:txBody>
      </p:sp>
      <p:sp>
        <p:nvSpPr>
          <p:cNvPr id="27" name="Rounded Rectangle 26"/>
          <p:cNvSpPr/>
          <p:nvPr/>
        </p:nvSpPr>
        <p:spPr>
          <a:xfrm>
            <a:off x="8595360" y="5394960"/>
            <a:ext cx="2743200" cy="31089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95360" y="5394960"/>
            <a:ext cx="2414016" cy="31089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95360" y="5376672"/>
            <a:ext cx="2743200" cy="329184"/>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050" b="1">
                <a:solidFill>
                  <a:srgbClr val="0A1428"/>
                </a:solidFill>
                <a:latin typeface="Calibri"/>
              </a:rPr>
              <a:t>AUC 0.88</a:t>
            </a:r>
          </a:p>
        </p:txBody>
      </p:sp>
      <p:sp>
        <p:nvSpPr>
          <p:cNvPr id="30" name="TextBox 29"/>
          <p:cNvSpPr txBox="1"/>
          <p:nvPr/>
        </p:nvSpPr>
        <p:spPr>
          <a:xfrm>
            <a:off x="7406640" y="5715000"/>
            <a:ext cx="402336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A09B8C"/>
                </a:solidFill>
                <a:latin typeface="Calibri"/>
              </a:rPr>
              <a:t>Cible : </a:t>
            </a:r>
            <a:r>
              <a:rPr sz="1200" b="1">
                <a:solidFill>
                  <a:srgbClr val="0AC8B9"/>
                </a:solidFill>
                <a:latin typeface="Calibri"/>
              </a:rPr>
              <a:t>blue_win (victoire équipe bleue)</a:t>
            </a:r>
          </a:p>
        </p:txBody>
      </p:sp>
      <p:sp>
        <p:nvSpPr>
          <p:cNvPr id="31" name="TextBox 3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32" name="TextBox 3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2 · OBJECTIFS</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Objectifs &amp; indicateurs (KPI)</a:t>
            </a:r>
          </a:p>
        </p:txBody>
      </p:sp>
      <p:sp>
        <p:nvSpPr>
          <p:cNvPr id="6" name="Rounded Rectangle 5"/>
          <p:cNvSpPr/>
          <p:nvPr/>
        </p:nvSpPr>
        <p:spPr>
          <a:xfrm>
            <a:off x="54864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8463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OBJECTIFS MODÈLE / DATA</a:t>
            </a:r>
          </a:p>
        </p:txBody>
      </p:sp>
      <p:sp>
        <p:nvSpPr>
          <p:cNvPr id="8" name="TextBox 7"/>
          <p:cNvSpPr txBox="1"/>
          <p:nvPr/>
        </p:nvSpPr>
        <p:spPr>
          <a:xfrm>
            <a:off x="868680" y="2331720"/>
            <a:ext cx="4846320" cy="3657600"/>
          </a:xfrm>
          <a:prstGeom prst="rect">
            <a:avLst/>
          </a:prstGeom>
          <a:noFill/>
        </p:spPr>
        <p:txBody>
          <a:bodyPr wrap="square">
            <a:spAutoFit/>
          </a:bodyPr>
          <a:lstStyle/>
          <a:p>
            <a:pPr>
              <a:lnSpc>
                <a:spcPct val="105000"/>
              </a:lnSpc>
              <a:spcBef>
                <a:spcPts val="0"/>
              </a:spcBef>
              <a:spcAft>
                <a:spcPts val="1300"/>
              </a:spcAft>
            </a:pPr>
            <a:r>
              <a:rPr sz="1400" b="1">
                <a:solidFill>
                  <a:srgbClr val="0AC8B9"/>
                </a:solidFill>
                <a:latin typeface="Calibri"/>
              </a:rPr>
              <a:t>▸ </a:t>
            </a:r>
            <a:r>
              <a:rPr sz="1400" b="1">
                <a:solidFill>
                  <a:srgbClr val="F0E6D2"/>
                </a:solidFill>
                <a:latin typeface="Calibri"/>
              </a:rPr>
              <a:t>Servir des modèles de prédiction</a:t>
            </a:r>
            <a:r>
              <a:rPr sz="1300">
                <a:solidFill>
                  <a:srgbClr val="A09B8C"/>
                </a:solidFill>
                <a:latin typeface="Calibri"/>
              </a:rPr>
              <a:t>  —  draft + timeline, déjà entraînés</a:t>
            </a:r>
          </a:p>
          <a:p>
            <a:pPr>
              <a:lnSpc>
                <a:spcPct val="105000"/>
              </a:lnSpc>
              <a:spcBef>
                <a:spcPts val="0"/>
              </a:spcBef>
              <a:spcAft>
                <a:spcPts val="1300"/>
              </a:spcAft>
            </a:pPr>
            <a:r>
              <a:rPr sz="1400" b="1">
                <a:solidFill>
                  <a:srgbClr val="0AC8B9"/>
                </a:solidFill>
                <a:latin typeface="Calibri"/>
              </a:rPr>
              <a:t>▸ </a:t>
            </a:r>
            <a:r>
              <a:rPr sz="1400" b="1">
                <a:solidFill>
                  <a:srgbClr val="F0E6D2"/>
                </a:solidFill>
                <a:latin typeface="Calibri"/>
              </a:rPr>
              <a:t>KPI : Accuracy &amp; ROC-AUC</a:t>
            </a:r>
            <a:r>
              <a:rPr sz="1300">
                <a:solidFill>
                  <a:srgbClr val="A09B8C"/>
                </a:solidFill>
                <a:latin typeface="Calibri"/>
              </a:rPr>
              <a:t>  —  de 0.56 (draft) à 0.89 (@20 min)</a:t>
            </a:r>
          </a:p>
          <a:p>
            <a:pPr>
              <a:lnSpc>
                <a:spcPct val="105000"/>
              </a:lnSpc>
              <a:spcBef>
                <a:spcPts val="0"/>
              </a:spcBef>
              <a:spcAft>
                <a:spcPts val="1300"/>
              </a:spcAft>
            </a:pPr>
            <a:r>
              <a:rPr sz="1400" b="1">
                <a:solidFill>
                  <a:srgbClr val="0AC8B9"/>
                </a:solidFill>
                <a:latin typeface="Calibri"/>
              </a:rPr>
              <a:t>▸ </a:t>
            </a:r>
            <a:r>
              <a:rPr sz="1400" b="1">
                <a:solidFill>
                  <a:srgbClr val="F0E6D2"/>
                </a:solidFill>
                <a:latin typeface="Calibri"/>
              </a:rPr>
              <a:t>Pipeline de données reproductible</a:t>
            </a:r>
            <a:r>
              <a:rPr sz="1300">
                <a:solidFill>
                  <a:srgbClr val="A09B8C"/>
                </a:solidFill>
                <a:latin typeface="Calibri"/>
              </a:rPr>
              <a:t>  —  dump Postgres versionné, features dérivées</a:t>
            </a:r>
          </a:p>
          <a:p>
            <a:pPr>
              <a:lnSpc>
                <a:spcPct val="105000"/>
              </a:lnSpc>
              <a:spcBef>
                <a:spcPts val="0"/>
              </a:spcBef>
              <a:spcAft>
                <a:spcPts val="1300"/>
              </a:spcAft>
            </a:pPr>
            <a:r>
              <a:rPr sz="1400" b="1">
                <a:solidFill>
                  <a:srgbClr val="0AC8B9"/>
                </a:solidFill>
                <a:latin typeface="Calibri"/>
              </a:rPr>
              <a:t>▸ </a:t>
            </a:r>
            <a:r>
              <a:rPr sz="1400" b="1">
                <a:solidFill>
                  <a:srgbClr val="F0E6D2"/>
                </a:solidFill>
                <a:latin typeface="Calibri"/>
              </a:rPr>
              <a:t>Re-entraînement automatisable</a:t>
            </a:r>
            <a:r>
              <a:rPr sz="1300">
                <a:solidFill>
                  <a:srgbClr val="A09B8C"/>
                </a:solidFill>
                <a:latin typeface="Calibri"/>
              </a:rPr>
              <a:t>  —  piloté par la dérive (Evidently)</a:t>
            </a:r>
          </a:p>
        </p:txBody>
      </p:sp>
      <p:sp>
        <p:nvSpPr>
          <p:cNvPr id="9" name="Rounded Rectangle 8"/>
          <p:cNvSpPr/>
          <p:nvPr/>
        </p:nvSpPr>
        <p:spPr>
          <a:xfrm>
            <a:off x="621792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874519"/>
            <a:ext cx="48463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OBJECTIFS MLOPS (cœur du projet)</a:t>
            </a:r>
          </a:p>
        </p:txBody>
      </p:sp>
      <p:sp>
        <p:nvSpPr>
          <p:cNvPr id="11" name="TextBox 10"/>
          <p:cNvSpPr txBox="1"/>
          <p:nvPr/>
        </p:nvSpPr>
        <p:spPr>
          <a:xfrm>
            <a:off x="6537960" y="2331720"/>
            <a:ext cx="4846320" cy="3657600"/>
          </a:xfrm>
          <a:prstGeom prst="rect">
            <a:avLst/>
          </a:prstGeom>
          <a:noFill/>
        </p:spPr>
        <p:txBody>
          <a:bodyPr wrap="square">
            <a:spAutoFit/>
          </a:bodyPr>
          <a:lstStyle/>
          <a:p>
            <a:pPr>
              <a:lnSpc>
                <a:spcPct val="105000"/>
              </a:lnSpc>
              <a:spcBef>
                <a:spcPts val="0"/>
              </a:spcBef>
              <a:spcAft>
                <a:spcPts val="1300"/>
              </a:spcAft>
            </a:pPr>
            <a:r>
              <a:rPr sz="1400" b="1">
                <a:solidFill>
                  <a:srgbClr val="C8AA6E"/>
                </a:solidFill>
                <a:latin typeface="Calibri"/>
              </a:rPr>
              <a:t>▸ </a:t>
            </a:r>
            <a:r>
              <a:rPr sz="1400" b="1">
                <a:solidFill>
                  <a:srgbClr val="F0E6D2"/>
                </a:solidFill>
                <a:latin typeface="Calibri"/>
              </a:rPr>
              <a:t>Reproductibilité</a:t>
            </a:r>
            <a:r>
              <a:rPr sz="1300">
                <a:solidFill>
                  <a:srgbClr val="A09B8C"/>
                </a:solidFill>
                <a:latin typeface="Calibri"/>
              </a:rPr>
              <a:t>  —  Docker Compose, .env, 47 tests offline</a:t>
            </a:r>
          </a:p>
          <a:p>
            <a:pPr>
              <a:lnSpc>
                <a:spcPct val="105000"/>
              </a:lnSpc>
              <a:spcBef>
                <a:spcPts val="0"/>
              </a:spcBef>
              <a:spcAft>
                <a:spcPts val="1300"/>
              </a:spcAft>
            </a:pPr>
            <a:r>
              <a:rPr sz="1400" b="1">
                <a:solidFill>
                  <a:srgbClr val="C8AA6E"/>
                </a:solidFill>
                <a:latin typeface="Calibri"/>
              </a:rPr>
              <a:t>▸ </a:t>
            </a:r>
            <a:r>
              <a:rPr sz="1400" b="1">
                <a:solidFill>
                  <a:srgbClr val="F0E6D2"/>
                </a:solidFill>
                <a:latin typeface="Calibri"/>
              </a:rPr>
              <a:t>Traçabilité</a:t>
            </a:r>
            <a:r>
              <a:rPr sz="1300">
                <a:solidFill>
                  <a:srgbClr val="A09B8C"/>
                </a:solidFill>
                <a:latin typeface="Calibri"/>
              </a:rPr>
              <a:t>  —  MLflow tracking + Model Registry + DVC</a:t>
            </a:r>
          </a:p>
          <a:p>
            <a:pPr>
              <a:lnSpc>
                <a:spcPct val="105000"/>
              </a:lnSpc>
              <a:spcBef>
                <a:spcPts val="0"/>
              </a:spcBef>
              <a:spcAft>
                <a:spcPts val="1300"/>
              </a:spcAft>
            </a:pPr>
            <a:r>
              <a:rPr sz="1400" b="1">
                <a:solidFill>
                  <a:srgbClr val="C8AA6E"/>
                </a:solidFill>
                <a:latin typeface="Calibri"/>
              </a:rPr>
              <a:t>▸ </a:t>
            </a:r>
            <a:r>
              <a:rPr sz="1400" b="1">
                <a:solidFill>
                  <a:srgbClr val="F0E6D2"/>
                </a:solidFill>
                <a:latin typeface="Calibri"/>
              </a:rPr>
              <a:t>Automatisation</a:t>
            </a:r>
            <a:r>
              <a:rPr sz="1300">
                <a:solidFill>
                  <a:srgbClr val="A09B8C"/>
                </a:solidFill>
                <a:latin typeface="Calibri"/>
              </a:rPr>
              <a:t>  —  CI GitHub Actions + orchestration Makefile</a:t>
            </a:r>
          </a:p>
          <a:p>
            <a:pPr>
              <a:lnSpc>
                <a:spcPct val="105000"/>
              </a:lnSpc>
              <a:spcBef>
                <a:spcPts val="0"/>
              </a:spcBef>
              <a:spcAft>
                <a:spcPts val="1300"/>
              </a:spcAft>
            </a:pPr>
            <a:r>
              <a:rPr sz="1400" b="1">
                <a:solidFill>
                  <a:srgbClr val="C8AA6E"/>
                </a:solidFill>
                <a:latin typeface="Calibri"/>
              </a:rPr>
              <a:t>▸ </a:t>
            </a:r>
            <a:r>
              <a:rPr sz="1400" b="1">
                <a:solidFill>
                  <a:srgbClr val="F0E6D2"/>
                </a:solidFill>
                <a:latin typeface="Calibri"/>
              </a:rPr>
              <a:t>Observabilité</a:t>
            </a:r>
            <a:r>
              <a:rPr sz="1300">
                <a:solidFill>
                  <a:srgbClr val="A09B8C"/>
                </a:solidFill>
                <a:latin typeface="Calibri"/>
              </a:rPr>
              <a:t>  —  Prometheus/Grafana + détection de dérive</a:t>
            </a:r>
          </a:p>
        </p:txBody>
      </p:sp>
      <p:sp>
        <p:nvSpPr>
          <p:cNvPr id="12" name="TextBox 11"/>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3" name="TextBox 12"/>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3 · ARCHITECTURE</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Vue d'ensemble — 6 services Docker</a:t>
            </a:r>
          </a:p>
        </p:txBody>
      </p:sp>
      <p:sp>
        <p:nvSpPr>
          <p:cNvPr id="6" name="Rounded Rectangle 5"/>
          <p:cNvSpPr/>
          <p:nvPr/>
        </p:nvSpPr>
        <p:spPr>
          <a:xfrm>
            <a:off x="548640" y="1828800"/>
            <a:ext cx="2240280" cy="841248"/>
          </a:xfrm>
          <a:prstGeom prst="roundRect">
            <a:avLst/>
          </a:prstGeom>
          <a:solidFill>
            <a:srgbClr val="10203C"/>
          </a:solidFill>
          <a:ln w="15875">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3852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3D9DF3"/>
                </a:solidFill>
                <a:latin typeface="Calibri"/>
              </a:rPr>
              <a:t>postgres :5434</a:t>
            </a:r>
          </a:p>
        </p:txBody>
      </p:sp>
      <p:sp>
        <p:nvSpPr>
          <p:cNvPr id="8" name="TextBox 7"/>
          <p:cNvSpPr txBox="1"/>
          <p:nvPr/>
        </p:nvSpPr>
        <p:spPr>
          <a:xfrm>
            <a:off x="548640" y="226771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données matchs/timeline</a:t>
            </a:r>
          </a:p>
        </p:txBody>
      </p:sp>
      <p:sp>
        <p:nvSpPr>
          <p:cNvPr id="9" name="Rounded Rectangle 8"/>
          <p:cNvSpPr/>
          <p:nvPr/>
        </p:nvSpPr>
        <p:spPr>
          <a:xfrm>
            <a:off x="3017520" y="1828800"/>
            <a:ext cx="2240280" cy="841248"/>
          </a:xfrm>
          <a:prstGeom prst="roundRect">
            <a:avLst/>
          </a:prstGeom>
          <a:solidFill>
            <a:srgbClr val="10203C"/>
          </a:solidFill>
          <a:ln w="15875">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17520" y="193852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C8AA6E"/>
                </a:solidFill>
                <a:latin typeface="Calibri"/>
              </a:rPr>
              <a:t>training</a:t>
            </a:r>
          </a:p>
        </p:txBody>
      </p:sp>
      <p:sp>
        <p:nvSpPr>
          <p:cNvPr id="11" name="TextBox 10"/>
          <p:cNvSpPr txBox="1"/>
          <p:nvPr/>
        </p:nvSpPr>
        <p:spPr>
          <a:xfrm>
            <a:off x="3017520" y="226771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XGBoost / LightGBM (on-demand)</a:t>
            </a:r>
          </a:p>
        </p:txBody>
      </p:sp>
      <p:sp>
        <p:nvSpPr>
          <p:cNvPr id="12" name="Rounded Rectangle 11"/>
          <p:cNvSpPr/>
          <p:nvPr/>
        </p:nvSpPr>
        <p:spPr>
          <a:xfrm>
            <a:off x="5486400" y="1828800"/>
            <a:ext cx="2240280" cy="841248"/>
          </a:xfrm>
          <a:prstGeom prst="roundRect">
            <a:avLst/>
          </a:prstGeom>
          <a:solidFill>
            <a:srgbClr val="10203C"/>
          </a:solidFill>
          <a:ln w="15875">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193852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C8AA6E"/>
                </a:solidFill>
                <a:latin typeface="Calibri"/>
              </a:rPr>
              <a:t>mlflow :5001</a:t>
            </a:r>
          </a:p>
        </p:txBody>
      </p:sp>
      <p:sp>
        <p:nvSpPr>
          <p:cNvPr id="14" name="TextBox 13"/>
          <p:cNvSpPr txBox="1"/>
          <p:nvPr/>
        </p:nvSpPr>
        <p:spPr>
          <a:xfrm>
            <a:off x="5486400" y="226771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tracking + registry</a:t>
            </a:r>
          </a:p>
        </p:txBody>
      </p:sp>
      <p:sp>
        <p:nvSpPr>
          <p:cNvPr id="15" name="Rounded Rectangle 14"/>
          <p:cNvSpPr/>
          <p:nvPr/>
        </p:nvSpPr>
        <p:spPr>
          <a:xfrm>
            <a:off x="7955279" y="1828800"/>
            <a:ext cx="2240280" cy="841248"/>
          </a:xfrm>
          <a:prstGeom prst="roundRect">
            <a:avLst/>
          </a:prstGeom>
          <a:solidFill>
            <a:srgbClr val="10203C"/>
          </a:solidFill>
          <a:ln w="15875">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79" y="193852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C8AA6E"/>
                </a:solidFill>
                <a:latin typeface="Calibri"/>
              </a:rPr>
              <a:t>DVC</a:t>
            </a:r>
          </a:p>
        </p:txBody>
      </p:sp>
      <p:sp>
        <p:nvSpPr>
          <p:cNvPr id="17" name="TextBox 16"/>
          <p:cNvSpPr txBox="1"/>
          <p:nvPr/>
        </p:nvSpPr>
        <p:spPr>
          <a:xfrm>
            <a:off x="7955279" y="226771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versioning data/pipeline</a:t>
            </a:r>
          </a:p>
        </p:txBody>
      </p:sp>
      <p:sp>
        <p:nvSpPr>
          <p:cNvPr id="18" name="Rounded Rectangle 17"/>
          <p:cNvSpPr/>
          <p:nvPr/>
        </p:nvSpPr>
        <p:spPr>
          <a:xfrm>
            <a:off x="10058400" y="1828800"/>
            <a:ext cx="1737360" cy="841248"/>
          </a:xfrm>
          <a:prstGeom prst="roundRect">
            <a:avLst/>
          </a:prstGeom>
          <a:solidFill>
            <a:srgbClr val="10203C"/>
          </a:solidFill>
          <a:ln w="15875">
            <a:solidFill>
              <a:srgbClr val="A09B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0" y="1938528"/>
            <a:ext cx="173736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A09B8C"/>
                </a:solidFill>
                <a:latin typeface="Calibri"/>
              </a:rPr>
              <a:t>models vol.</a:t>
            </a:r>
          </a:p>
        </p:txBody>
      </p:sp>
      <p:sp>
        <p:nvSpPr>
          <p:cNvPr id="20" name="TextBox 19"/>
          <p:cNvSpPr txBox="1"/>
          <p:nvPr/>
        </p:nvSpPr>
        <p:spPr>
          <a:xfrm>
            <a:off x="10058400" y="2267712"/>
            <a:ext cx="173736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artefacts .pkl</a:t>
            </a:r>
          </a:p>
        </p:txBody>
      </p:sp>
      <p:sp>
        <p:nvSpPr>
          <p:cNvPr id="21" name="Rounded Rectangle 20"/>
          <p:cNvSpPr/>
          <p:nvPr/>
        </p:nvSpPr>
        <p:spPr>
          <a:xfrm>
            <a:off x="3017520" y="3063240"/>
            <a:ext cx="2240280" cy="841248"/>
          </a:xfrm>
          <a:prstGeom prst="roundRect">
            <a:avLst/>
          </a:prstGeom>
          <a:solidFill>
            <a:srgbClr val="10203C"/>
          </a:solidFill>
          <a:ln w="15875">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0" y="317296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0AC8B9"/>
                </a:solidFill>
                <a:latin typeface="Calibri"/>
              </a:rPr>
              <a:t>api :8000</a:t>
            </a:r>
          </a:p>
        </p:txBody>
      </p:sp>
      <p:sp>
        <p:nvSpPr>
          <p:cNvPr id="23" name="TextBox 22"/>
          <p:cNvSpPr txBox="1"/>
          <p:nvPr/>
        </p:nvSpPr>
        <p:spPr>
          <a:xfrm>
            <a:off x="3017520" y="350215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FastAPI · /predict · /metrics</a:t>
            </a:r>
          </a:p>
        </p:txBody>
      </p:sp>
      <p:sp>
        <p:nvSpPr>
          <p:cNvPr id="24" name="Rounded Rectangle 23"/>
          <p:cNvSpPr/>
          <p:nvPr/>
        </p:nvSpPr>
        <p:spPr>
          <a:xfrm>
            <a:off x="5486400" y="3063240"/>
            <a:ext cx="2240280" cy="841248"/>
          </a:xfrm>
          <a:prstGeom prst="roundRect">
            <a:avLst/>
          </a:prstGeom>
          <a:solidFill>
            <a:srgbClr val="10203C"/>
          </a:solidFill>
          <a:ln w="15875">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317296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0AC8B9"/>
                </a:solidFill>
                <a:latin typeface="Calibri"/>
              </a:rPr>
              <a:t>streamlit :8501</a:t>
            </a:r>
          </a:p>
        </p:txBody>
      </p:sp>
      <p:sp>
        <p:nvSpPr>
          <p:cNvPr id="26" name="TextBox 25"/>
          <p:cNvSpPr txBox="1"/>
          <p:nvPr/>
        </p:nvSpPr>
        <p:spPr>
          <a:xfrm>
            <a:off x="5486400" y="350215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UI multi-pages</a:t>
            </a:r>
          </a:p>
        </p:txBody>
      </p:sp>
      <p:sp>
        <p:nvSpPr>
          <p:cNvPr id="27" name="Rounded Rectangle 26"/>
          <p:cNvSpPr/>
          <p:nvPr/>
        </p:nvSpPr>
        <p:spPr>
          <a:xfrm>
            <a:off x="548640" y="3063240"/>
            <a:ext cx="2240280" cy="841248"/>
          </a:xfrm>
          <a:prstGeom prst="roundRect">
            <a:avLst/>
          </a:prstGeom>
          <a:solidFill>
            <a:srgbClr val="10203C"/>
          </a:solidFill>
          <a:ln w="15875">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17296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C8AA6E"/>
                </a:solidFill>
                <a:latin typeface="Calibri"/>
              </a:rPr>
              <a:t>Makefile</a:t>
            </a:r>
          </a:p>
        </p:txBody>
      </p:sp>
      <p:sp>
        <p:nvSpPr>
          <p:cNvPr id="29" name="TextBox 28"/>
          <p:cNvSpPr txBox="1"/>
          <p:nvPr/>
        </p:nvSpPr>
        <p:spPr>
          <a:xfrm>
            <a:off x="548640" y="350215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orchestration e2e</a:t>
            </a:r>
          </a:p>
        </p:txBody>
      </p:sp>
      <p:sp>
        <p:nvSpPr>
          <p:cNvPr id="30" name="Rounded Rectangle 29"/>
          <p:cNvSpPr/>
          <p:nvPr/>
        </p:nvSpPr>
        <p:spPr>
          <a:xfrm>
            <a:off x="7955279" y="3063240"/>
            <a:ext cx="2240280" cy="841248"/>
          </a:xfrm>
          <a:prstGeom prst="roundRect">
            <a:avLst/>
          </a:prstGeom>
          <a:solidFill>
            <a:srgbClr val="10203C"/>
          </a:solidFill>
          <a:ln w="15875">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79" y="317296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E84B55"/>
                </a:solidFill>
                <a:latin typeface="Calibri"/>
              </a:rPr>
              <a:t>prometheus :9090</a:t>
            </a:r>
          </a:p>
        </p:txBody>
      </p:sp>
      <p:sp>
        <p:nvSpPr>
          <p:cNvPr id="32" name="TextBox 31"/>
          <p:cNvSpPr txBox="1"/>
          <p:nvPr/>
        </p:nvSpPr>
        <p:spPr>
          <a:xfrm>
            <a:off x="7955279" y="350215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scrape métriques</a:t>
            </a:r>
          </a:p>
        </p:txBody>
      </p:sp>
      <p:sp>
        <p:nvSpPr>
          <p:cNvPr id="33" name="Rounded Rectangle 32"/>
          <p:cNvSpPr/>
          <p:nvPr/>
        </p:nvSpPr>
        <p:spPr>
          <a:xfrm>
            <a:off x="10058400" y="3063240"/>
            <a:ext cx="1737360" cy="841248"/>
          </a:xfrm>
          <a:prstGeom prst="roundRect">
            <a:avLst/>
          </a:prstGeom>
          <a:solidFill>
            <a:srgbClr val="10203C"/>
          </a:solidFill>
          <a:ln w="15875">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0" y="3172968"/>
            <a:ext cx="173736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E84B55"/>
                </a:solidFill>
                <a:latin typeface="Calibri"/>
              </a:rPr>
              <a:t>grafana :3000</a:t>
            </a:r>
          </a:p>
        </p:txBody>
      </p:sp>
      <p:sp>
        <p:nvSpPr>
          <p:cNvPr id="35" name="TextBox 34"/>
          <p:cNvSpPr txBox="1"/>
          <p:nvPr/>
        </p:nvSpPr>
        <p:spPr>
          <a:xfrm>
            <a:off x="10058400" y="3502152"/>
            <a:ext cx="173736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dashboards</a:t>
            </a:r>
          </a:p>
        </p:txBody>
      </p:sp>
      <p:sp>
        <p:nvSpPr>
          <p:cNvPr id="36" name="Rounded Rectangle 35"/>
          <p:cNvSpPr/>
          <p:nvPr/>
        </p:nvSpPr>
        <p:spPr>
          <a:xfrm>
            <a:off x="548640" y="4297680"/>
            <a:ext cx="2240280" cy="841248"/>
          </a:xfrm>
          <a:prstGeom prst="roundRect">
            <a:avLst/>
          </a:prstGeom>
          <a:solidFill>
            <a:srgbClr val="10203C"/>
          </a:solidFill>
          <a:ln w="15875">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40740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4CC97E"/>
                </a:solidFill>
                <a:latin typeface="Calibri"/>
              </a:rPr>
              <a:t>GitHub Actions</a:t>
            </a:r>
          </a:p>
        </p:txBody>
      </p:sp>
      <p:sp>
        <p:nvSpPr>
          <p:cNvPr id="38" name="TextBox 37"/>
          <p:cNvSpPr txBox="1"/>
          <p:nvPr/>
        </p:nvSpPr>
        <p:spPr>
          <a:xfrm>
            <a:off x="548640" y="473659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CI lint·test·build</a:t>
            </a:r>
          </a:p>
        </p:txBody>
      </p:sp>
      <p:sp>
        <p:nvSpPr>
          <p:cNvPr id="39" name="Rounded Rectangle 38"/>
          <p:cNvSpPr/>
          <p:nvPr/>
        </p:nvSpPr>
        <p:spPr>
          <a:xfrm>
            <a:off x="3017520" y="4297680"/>
            <a:ext cx="2240280" cy="841248"/>
          </a:xfrm>
          <a:prstGeom prst="roundRect">
            <a:avLst/>
          </a:prstGeom>
          <a:solidFill>
            <a:srgbClr val="10203C"/>
          </a:solidFill>
          <a:ln w="15875">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7520" y="440740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4CC97E"/>
                </a:solidFill>
                <a:latin typeface="Calibri"/>
              </a:rPr>
              <a:t>pytest</a:t>
            </a:r>
          </a:p>
        </p:txBody>
      </p:sp>
      <p:sp>
        <p:nvSpPr>
          <p:cNvPr id="41" name="TextBox 40"/>
          <p:cNvSpPr txBox="1"/>
          <p:nvPr/>
        </p:nvSpPr>
        <p:spPr>
          <a:xfrm>
            <a:off x="3017520" y="473659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47 tests offline</a:t>
            </a:r>
          </a:p>
        </p:txBody>
      </p:sp>
      <p:sp>
        <p:nvSpPr>
          <p:cNvPr id="42" name="Rounded Rectangle 41"/>
          <p:cNvSpPr/>
          <p:nvPr/>
        </p:nvSpPr>
        <p:spPr>
          <a:xfrm>
            <a:off x="5486400" y="4297680"/>
            <a:ext cx="2240280" cy="841248"/>
          </a:xfrm>
          <a:prstGeom prst="roundRect">
            <a:avLst/>
          </a:prstGeom>
          <a:solidFill>
            <a:srgbClr val="10203C"/>
          </a:solidFill>
          <a:ln w="15875">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0" y="4407408"/>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E84B55"/>
                </a:solidFill>
                <a:latin typeface="Calibri"/>
              </a:rPr>
              <a:t>Evidently</a:t>
            </a:r>
          </a:p>
        </p:txBody>
      </p:sp>
      <p:sp>
        <p:nvSpPr>
          <p:cNvPr id="44" name="TextBox 43"/>
          <p:cNvSpPr txBox="1"/>
          <p:nvPr/>
        </p:nvSpPr>
        <p:spPr>
          <a:xfrm>
            <a:off x="5486400" y="4736592"/>
            <a:ext cx="22402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détection de dérive</a:t>
            </a:r>
          </a:p>
        </p:txBody>
      </p:sp>
      <p:sp>
        <p:nvSpPr>
          <p:cNvPr id="45" name="Rounded Rectangle 44"/>
          <p:cNvSpPr/>
          <p:nvPr/>
        </p:nvSpPr>
        <p:spPr>
          <a:xfrm>
            <a:off x="7955279" y="4297680"/>
            <a:ext cx="3840480" cy="841248"/>
          </a:xfrm>
          <a:prstGeom prst="roundRect">
            <a:avLst/>
          </a:prstGeom>
          <a:solidFill>
            <a:srgbClr val="162A4A"/>
          </a:solidFill>
          <a:ln w="15875">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955279" y="4407408"/>
            <a:ext cx="38404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300" b="1">
                <a:solidFill>
                  <a:srgbClr val="C8AA6E"/>
                </a:solidFill>
                <a:latin typeface="Calibri"/>
              </a:rPr>
              <a:t>Docker Compose (réseau lol-net) + manifests Kubernetes</a:t>
            </a:r>
          </a:p>
        </p:txBody>
      </p:sp>
      <p:sp>
        <p:nvSpPr>
          <p:cNvPr id="47" name="TextBox 46"/>
          <p:cNvSpPr txBox="1"/>
          <p:nvPr/>
        </p:nvSpPr>
        <p:spPr>
          <a:xfrm>
            <a:off x="7955279" y="4736592"/>
            <a:ext cx="384048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950" b="0">
                <a:solidFill>
                  <a:srgbClr val="A09B8C"/>
                </a:solidFill>
                <a:latin typeface="Calibri"/>
              </a:rPr>
              <a:t>6 services · 1 commande pour tout lancer</a:t>
            </a:r>
          </a:p>
        </p:txBody>
      </p:sp>
      <p:cxnSp>
        <p:nvCxnSpPr>
          <p:cNvPr id="48" name="Connector 47"/>
          <p:cNvCxnSpPr/>
          <p:nvPr/>
        </p:nvCxnSpPr>
        <p:spPr>
          <a:xfrm>
            <a:off x="2788920" y="2249424"/>
            <a:ext cx="228600" cy="0"/>
          </a:xfrm>
          <a:prstGeom prst="bentConnector3">
            <a:avLst/>
          </a:prstGeom>
          <a:ln w="25400">
            <a:solidFill>
              <a:srgbClr val="C8AA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257800" y="2249424"/>
            <a:ext cx="228600" cy="0"/>
          </a:xfrm>
          <a:prstGeom prst="bentConnector3">
            <a:avLst/>
          </a:prstGeom>
          <a:ln w="25400">
            <a:solidFill>
              <a:srgbClr val="C8AA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726679" y="2249424"/>
            <a:ext cx="228600" cy="0"/>
          </a:xfrm>
          <a:prstGeom prst="bentConnector3">
            <a:avLst/>
          </a:prstGeom>
          <a:ln w="25400">
            <a:solidFill>
              <a:srgbClr val="C8AA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48640" y="6172200"/>
            <a:ext cx="1097280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Intégrations MLflow / Prometheus / Evidently en fail-safe NO-OP : l'inférence et les tests ne cassent jamais si un service est absent.</a:t>
            </a:r>
          </a:p>
        </p:txBody>
      </p:sp>
      <p:sp>
        <p:nvSpPr>
          <p:cNvPr id="52" name="TextBox 51"/>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53" name="TextBox 52"/>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3 · STACK</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Stack technique par domaine</a:t>
            </a:r>
          </a:p>
        </p:txBody>
      </p:sp>
      <p:sp>
        <p:nvSpPr>
          <p:cNvPr id="6" name="Rounded Rectangle 5"/>
          <p:cNvSpPr/>
          <p:nvPr/>
        </p:nvSpPr>
        <p:spPr>
          <a:xfrm>
            <a:off x="548640" y="1737360"/>
            <a:ext cx="3593592" cy="1993392"/>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91440" cy="1993392"/>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83664"/>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LANGAGE &amp; ML</a:t>
            </a:r>
          </a:p>
        </p:txBody>
      </p:sp>
      <p:sp>
        <p:nvSpPr>
          <p:cNvPr id="9" name="TextBox 8"/>
          <p:cNvSpPr txBox="1"/>
          <p:nvPr/>
        </p:nvSpPr>
        <p:spPr>
          <a:xfrm>
            <a:off x="804672" y="2304288"/>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0AC8B9"/>
                </a:solidFill>
                <a:latin typeface="Calibri"/>
              </a:rPr>
              <a:t>• </a:t>
            </a:r>
            <a:r>
              <a:rPr sz="1250" b="1">
                <a:solidFill>
                  <a:srgbClr val="F0E6D2"/>
                </a:solidFill>
                <a:latin typeface="Calibri"/>
              </a:rPr>
              <a:t>Python 3.11</a:t>
            </a:r>
          </a:p>
          <a:p>
            <a:pPr>
              <a:lnSpc>
                <a:spcPct val="105000"/>
              </a:lnSpc>
              <a:spcBef>
                <a:spcPts val="0"/>
              </a:spcBef>
              <a:spcAft>
                <a:spcPts val="600"/>
              </a:spcAft>
            </a:pPr>
            <a:r>
              <a:rPr sz="1250" b="1">
                <a:solidFill>
                  <a:srgbClr val="0AC8B9"/>
                </a:solidFill>
                <a:latin typeface="Calibri"/>
              </a:rPr>
              <a:t>• </a:t>
            </a:r>
            <a:r>
              <a:rPr sz="1250" b="1">
                <a:solidFill>
                  <a:srgbClr val="F0E6D2"/>
                </a:solidFill>
                <a:latin typeface="Calibri"/>
              </a:rPr>
              <a:t>XGBoost · LightGBM</a:t>
            </a:r>
          </a:p>
          <a:p>
            <a:pPr>
              <a:lnSpc>
                <a:spcPct val="105000"/>
              </a:lnSpc>
              <a:spcBef>
                <a:spcPts val="0"/>
              </a:spcBef>
              <a:spcAft>
                <a:spcPts val="600"/>
              </a:spcAft>
            </a:pPr>
            <a:r>
              <a:rPr sz="1250" b="1">
                <a:solidFill>
                  <a:srgbClr val="0AC8B9"/>
                </a:solidFill>
                <a:latin typeface="Calibri"/>
              </a:rPr>
              <a:t>• </a:t>
            </a:r>
            <a:r>
              <a:rPr sz="1250" b="1">
                <a:solidFill>
                  <a:srgbClr val="F0E6D2"/>
                </a:solidFill>
                <a:latin typeface="Calibri"/>
              </a:rPr>
              <a:t>scikit-learn · pandas</a:t>
            </a:r>
          </a:p>
        </p:txBody>
      </p:sp>
      <p:sp>
        <p:nvSpPr>
          <p:cNvPr id="10" name="Rounded Rectangle 9"/>
          <p:cNvSpPr/>
          <p:nvPr/>
        </p:nvSpPr>
        <p:spPr>
          <a:xfrm>
            <a:off x="4251960" y="1737360"/>
            <a:ext cx="3593592" cy="1993392"/>
          </a:xfrm>
          <a:prstGeom prst="roundRect">
            <a:avLst/>
          </a:prstGeom>
          <a:solidFill>
            <a:srgbClr val="10203C"/>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51960" y="1737360"/>
            <a:ext cx="91440" cy="1993392"/>
          </a:xfrm>
          <a:prstGeom prst="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07992" y="1883664"/>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3D9DF3"/>
                </a:solidFill>
                <a:latin typeface="Calibri"/>
              </a:rPr>
              <a:t>API &amp; UI</a:t>
            </a:r>
          </a:p>
        </p:txBody>
      </p:sp>
      <p:sp>
        <p:nvSpPr>
          <p:cNvPr id="13" name="TextBox 12"/>
          <p:cNvSpPr txBox="1"/>
          <p:nvPr/>
        </p:nvSpPr>
        <p:spPr>
          <a:xfrm>
            <a:off x="4507992" y="2304288"/>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3D9DF3"/>
                </a:solidFill>
                <a:latin typeface="Calibri"/>
              </a:rPr>
              <a:t>• </a:t>
            </a:r>
            <a:r>
              <a:rPr sz="1250" b="1">
                <a:solidFill>
                  <a:srgbClr val="F0E6D2"/>
                </a:solidFill>
                <a:latin typeface="Calibri"/>
              </a:rPr>
              <a:t>FastAPI · Pydantic</a:t>
            </a:r>
          </a:p>
          <a:p>
            <a:pPr>
              <a:lnSpc>
                <a:spcPct val="105000"/>
              </a:lnSpc>
              <a:spcBef>
                <a:spcPts val="0"/>
              </a:spcBef>
              <a:spcAft>
                <a:spcPts val="600"/>
              </a:spcAft>
            </a:pPr>
            <a:r>
              <a:rPr sz="1250" b="1">
                <a:solidFill>
                  <a:srgbClr val="3D9DF3"/>
                </a:solidFill>
                <a:latin typeface="Calibri"/>
              </a:rPr>
              <a:t>• </a:t>
            </a:r>
            <a:r>
              <a:rPr sz="1250" b="1">
                <a:solidFill>
                  <a:srgbClr val="F0E6D2"/>
                </a:solidFill>
                <a:latin typeface="Calibri"/>
              </a:rPr>
              <a:t>Streamlit (multi-pages)</a:t>
            </a:r>
          </a:p>
          <a:p>
            <a:pPr>
              <a:lnSpc>
                <a:spcPct val="105000"/>
              </a:lnSpc>
              <a:spcBef>
                <a:spcPts val="0"/>
              </a:spcBef>
              <a:spcAft>
                <a:spcPts val="600"/>
              </a:spcAft>
            </a:pPr>
            <a:r>
              <a:rPr sz="1250" b="1">
                <a:solidFill>
                  <a:srgbClr val="3D9DF3"/>
                </a:solidFill>
                <a:latin typeface="Calibri"/>
              </a:rPr>
              <a:t>• </a:t>
            </a:r>
            <a:r>
              <a:rPr sz="1250" b="1">
                <a:solidFill>
                  <a:srgbClr val="F0E6D2"/>
                </a:solidFill>
                <a:latin typeface="Calibri"/>
              </a:rPr>
              <a:t>httpx (tests)</a:t>
            </a:r>
          </a:p>
        </p:txBody>
      </p:sp>
      <p:sp>
        <p:nvSpPr>
          <p:cNvPr id="14" name="Rounded Rectangle 13"/>
          <p:cNvSpPr/>
          <p:nvPr/>
        </p:nvSpPr>
        <p:spPr>
          <a:xfrm>
            <a:off x="7955280" y="1737360"/>
            <a:ext cx="3593592" cy="1993392"/>
          </a:xfrm>
          <a:prstGeom prst="roundRect">
            <a:avLst/>
          </a:prstGeom>
          <a:solidFill>
            <a:srgbClr val="10203C"/>
          </a:solidFill>
          <a:ln w="1270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737360"/>
            <a:ext cx="91440" cy="1993392"/>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883664"/>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MLOps CORE</a:t>
            </a:r>
          </a:p>
        </p:txBody>
      </p:sp>
      <p:sp>
        <p:nvSpPr>
          <p:cNvPr id="17" name="TextBox 16"/>
          <p:cNvSpPr txBox="1"/>
          <p:nvPr/>
        </p:nvSpPr>
        <p:spPr>
          <a:xfrm>
            <a:off x="8211312" y="2304288"/>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C8AA6E"/>
                </a:solidFill>
                <a:latin typeface="Calibri"/>
              </a:rPr>
              <a:t>• </a:t>
            </a:r>
            <a:r>
              <a:rPr sz="1250" b="1">
                <a:solidFill>
                  <a:srgbClr val="F0E6D2"/>
                </a:solidFill>
                <a:latin typeface="Calibri"/>
              </a:rPr>
              <a:t>MLflow (tracking+registry)</a:t>
            </a:r>
          </a:p>
          <a:p>
            <a:pPr>
              <a:lnSpc>
                <a:spcPct val="105000"/>
              </a:lnSpc>
              <a:spcBef>
                <a:spcPts val="0"/>
              </a:spcBef>
              <a:spcAft>
                <a:spcPts val="600"/>
              </a:spcAft>
            </a:pPr>
            <a:r>
              <a:rPr sz="1250" b="1">
                <a:solidFill>
                  <a:srgbClr val="C8AA6E"/>
                </a:solidFill>
                <a:latin typeface="Calibri"/>
              </a:rPr>
              <a:t>• </a:t>
            </a:r>
            <a:r>
              <a:rPr sz="1250" b="1">
                <a:solidFill>
                  <a:srgbClr val="F0E6D2"/>
                </a:solidFill>
                <a:latin typeface="Calibri"/>
              </a:rPr>
              <a:t>DVC (data/pipeline)</a:t>
            </a:r>
          </a:p>
          <a:p>
            <a:pPr>
              <a:lnSpc>
                <a:spcPct val="105000"/>
              </a:lnSpc>
              <a:spcBef>
                <a:spcPts val="0"/>
              </a:spcBef>
              <a:spcAft>
                <a:spcPts val="600"/>
              </a:spcAft>
            </a:pPr>
            <a:r>
              <a:rPr sz="1250" b="1">
                <a:solidFill>
                  <a:srgbClr val="C8AA6E"/>
                </a:solidFill>
                <a:latin typeface="Calibri"/>
              </a:rPr>
              <a:t>• </a:t>
            </a:r>
            <a:r>
              <a:rPr sz="1250" b="1">
                <a:solidFill>
                  <a:srgbClr val="F0E6D2"/>
                </a:solidFill>
                <a:latin typeface="Calibri"/>
              </a:rPr>
              <a:t>Evidently (drift)</a:t>
            </a:r>
          </a:p>
        </p:txBody>
      </p:sp>
      <p:sp>
        <p:nvSpPr>
          <p:cNvPr id="18" name="Rounded Rectangle 17"/>
          <p:cNvSpPr/>
          <p:nvPr/>
        </p:nvSpPr>
        <p:spPr>
          <a:xfrm>
            <a:off x="548640" y="3913632"/>
            <a:ext cx="3593592" cy="1993392"/>
          </a:xfrm>
          <a:prstGeom prst="roundRect">
            <a:avLst/>
          </a:prstGeom>
          <a:solidFill>
            <a:srgbClr val="10203C"/>
          </a:solidFill>
          <a:ln w="12700">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13632"/>
            <a:ext cx="91440" cy="1993392"/>
          </a:xfrm>
          <a:prstGeom prst="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059936"/>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OBSERVABILITÉ</a:t>
            </a:r>
          </a:p>
        </p:txBody>
      </p:sp>
      <p:sp>
        <p:nvSpPr>
          <p:cNvPr id="21" name="TextBox 20"/>
          <p:cNvSpPr txBox="1"/>
          <p:nvPr/>
        </p:nvSpPr>
        <p:spPr>
          <a:xfrm>
            <a:off x="804672" y="4480560"/>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E84B55"/>
                </a:solidFill>
                <a:latin typeface="Calibri"/>
              </a:rPr>
              <a:t>• </a:t>
            </a:r>
            <a:r>
              <a:rPr sz="1250" b="1">
                <a:solidFill>
                  <a:srgbClr val="F0E6D2"/>
                </a:solidFill>
                <a:latin typeface="Calibri"/>
              </a:rPr>
              <a:t>Prometheus</a:t>
            </a:r>
          </a:p>
          <a:p>
            <a:pPr>
              <a:lnSpc>
                <a:spcPct val="105000"/>
              </a:lnSpc>
              <a:spcBef>
                <a:spcPts val="0"/>
              </a:spcBef>
              <a:spcAft>
                <a:spcPts val="600"/>
              </a:spcAft>
            </a:pPr>
            <a:r>
              <a:rPr sz="1250" b="1">
                <a:solidFill>
                  <a:srgbClr val="E84B55"/>
                </a:solidFill>
                <a:latin typeface="Calibri"/>
              </a:rPr>
              <a:t>• </a:t>
            </a:r>
            <a:r>
              <a:rPr sz="1250" b="1">
                <a:solidFill>
                  <a:srgbClr val="F0E6D2"/>
                </a:solidFill>
                <a:latin typeface="Calibri"/>
              </a:rPr>
              <a:t>Grafana (provisionné)</a:t>
            </a:r>
          </a:p>
        </p:txBody>
      </p:sp>
      <p:sp>
        <p:nvSpPr>
          <p:cNvPr id="22" name="Rounded Rectangle 21"/>
          <p:cNvSpPr/>
          <p:nvPr/>
        </p:nvSpPr>
        <p:spPr>
          <a:xfrm>
            <a:off x="4251960" y="3913632"/>
            <a:ext cx="3593592" cy="1993392"/>
          </a:xfrm>
          <a:prstGeom prst="roundRect">
            <a:avLst/>
          </a:prstGeom>
          <a:solidFill>
            <a:srgbClr val="10203C"/>
          </a:solidFill>
          <a:ln w="12700">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51960" y="3913632"/>
            <a:ext cx="91440" cy="1993392"/>
          </a:xfrm>
          <a:prstGeom prst="rect">
            <a:avLst/>
          </a:prstGeom>
          <a:solidFill>
            <a:srgbClr val="4CC9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07992" y="4059936"/>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4CC97E"/>
                </a:solidFill>
                <a:latin typeface="Calibri"/>
              </a:rPr>
              <a:t>CI / QUALITÉ</a:t>
            </a:r>
          </a:p>
        </p:txBody>
      </p:sp>
      <p:sp>
        <p:nvSpPr>
          <p:cNvPr id="25" name="TextBox 24"/>
          <p:cNvSpPr txBox="1"/>
          <p:nvPr/>
        </p:nvSpPr>
        <p:spPr>
          <a:xfrm>
            <a:off x="4507992" y="4480560"/>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4CC97E"/>
                </a:solidFill>
                <a:latin typeface="Calibri"/>
              </a:rPr>
              <a:t>• </a:t>
            </a:r>
            <a:r>
              <a:rPr sz="1250" b="1">
                <a:solidFill>
                  <a:srgbClr val="F0E6D2"/>
                </a:solidFill>
                <a:latin typeface="Calibri"/>
              </a:rPr>
              <a:t>GitHub Actions</a:t>
            </a:r>
          </a:p>
          <a:p>
            <a:pPr>
              <a:lnSpc>
                <a:spcPct val="105000"/>
              </a:lnSpc>
              <a:spcBef>
                <a:spcPts val="0"/>
              </a:spcBef>
              <a:spcAft>
                <a:spcPts val="600"/>
              </a:spcAft>
            </a:pPr>
            <a:r>
              <a:rPr sz="1250" b="1">
                <a:solidFill>
                  <a:srgbClr val="4CC97E"/>
                </a:solidFill>
                <a:latin typeface="Calibri"/>
              </a:rPr>
              <a:t>• </a:t>
            </a:r>
            <a:r>
              <a:rPr sz="1250" b="1">
                <a:solidFill>
                  <a:srgbClr val="F0E6D2"/>
                </a:solidFill>
                <a:latin typeface="Calibri"/>
              </a:rPr>
              <a:t>pytest (47 tests)</a:t>
            </a:r>
          </a:p>
          <a:p>
            <a:pPr>
              <a:lnSpc>
                <a:spcPct val="105000"/>
              </a:lnSpc>
              <a:spcBef>
                <a:spcPts val="0"/>
              </a:spcBef>
              <a:spcAft>
                <a:spcPts val="600"/>
              </a:spcAft>
            </a:pPr>
            <a:r>
              <a:rPr sz="1250" b="1">
                <a:solidFill>
                  <a:srgbClr val="4CC97E"/>
                </a:solidFill>
                <a:latin typeface="Calibri"/>
              </a:rPr>
              <a:t>• </a:t>
            </a:r>
            <a:r>
              <a:rPr sz="1250" b="1">
                <a:solidFill>
                  <a:srgbClr val="F0E6D2"/>
                </a:solidFill>
                <a:latin typeface="Calibri"/>
              </a:rPr>
              <a:t>ruff</a:t>
            </a:r>
          </a:p>
        </p:txBody>
      </p:sp>
      <p:sp>
        <p:nvSpPr>
          <p:cNvPr id="26" name="Rounded Rectangle 25"/>
          <p:cNvSpPr/>
          <p:nvPr/>
        </p:nvSpPr>
        <p:spPr>
          <a:xfrm>
            <a:off x="7955280" y="3913632"/>
            <a:ext cx="3593592" cy="1993392"/>
          </a:xfrm>
          <a:prstGeom prst="roundRect">
            <a:avLst/>
          </a:prstGeom>
          <a:solidFill>
            <a:srgbClr val="10203C"/>
          </a:solidFill>
          <a:ln w="12700">
            <a:solidFill>
              <a:srgbClr val="F0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55280" y="3913632"/>
            <a:ext cx="91440" cy="1993392"/>
          </a:xfrm>
          <a:prstGeom prst="rect">
            <a:avLst/>
          </a:prstGeom>
          <a:solidFill>
            <a:srgbClr val="F0E6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4059936"/>
            <a:ext cx="3227832"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F0E6D2"/>
                </a:solidFill>
                <a:latin typeface="Calibri"/>
              </a:rPr>
              <a:t>INFRA</a:t>
            </a:r>
          </a:p>
        </p:txBody>
      </p:sp>
      <p:sp>
        <p:nvSpPr>
          <p:cNvPr id="29" name="TextBox 28"/>
          <p:cNvSpPr txBox="1"/>
          <p:nvPr/>
        </p:nvSpPr>
        <p:spPr>
          <a:xfrm>
            <a:off x="8211312" y="4480560"/>
            <a:ext cx="3182112" cy="1353312"/>
          </a:xfrm>
          <a:prstGeom prst="rect">
            <a:avLst/>
          </a:prstGeom>
          <a:noFill/>
        </p:spPr>
        <p:txBody>
          <a:bodyPr wrap="square">
            <a:spAutoFit/>
          </a:bodyPr>
          <a:lstStyle/>
          <a:p>
            <a:pPr>
              <a:lnSpc>
                <a:spcPct val="105000"/>
              </a:lnSpc>
              <a:spcBef>
                <a:spcPts val="0"/>
              </a:spcBef>
              <a:spcAft>
                <a:spcPts val="600"/>
              </a:spcAft>
            </a:pPr>
            <a:r>
              <a:rPr sz="1250" b="1">
                <a:solidFill>
                  <a:srgbClr val="F0E6D2"/>
                </a:solidFill>
                <a:latin typeface="Calibri"/>
              </a:rPr>
              <a:t>• </a:t>
            </a:r>
            <a:r>
              <a:rPr sz="1250" b="1">
                <a:solidFill>
                  <a:srgbClr val="F0E6D2"/>
                </a:solidFill>
                <a:latin typeface="Calibri"/>
              </a:rPr>
              <a:t>Docker / Compose</a:t>
            </a:r>
          </a:p>
          <a:p>
            <a:pPr>
              <a:lnSpc>
                <a:spcPct val="105000"/>
              </a:lnSpc>
              <a:spcBef>
                <a:spcPts val="0"/>
              </a:spcBef>
              <a:spcAft>
                <a:spcPts val="600"/>
              </a:spcAft>
            </a:pPr>
            <a:r>
              <a:rPr sz="1250" b="1">
                <a:solidFill>
                  <a:srgbClr val="F0E6D2"/>
                </a:solidFill>
                <a:latin typeface="Calibri"/>
              </a:rPr>
              <a:t>• </a:t>
            </a:r>
            <a:r>
              <a:rPr sz="1250" b="1">
                <a:solidFill>
                  <a:srgbClr val="F0E6D2"/>
                </a:solidFill>
                <a:latin typeface="Calibri"/>
              </a:rPr>
              <a:t>PostgreSQL 16</a:t>
            </a:r>
          </a:p>
          <a:p>
            <a:pPr>
              <a:lnSpc>
                <a:spcPct val="105000"/>
              </a:lnSpc>
              <a:spcBef>
                <a:spcPts val="0"/>
              </a:spcBef>
              <a:spcAft>
                <a:spcPts val="600"/>
              </a:spcAft>
            </a:pPr>
            <a:r>
              <a:rPr sz="1250" b="1">
                <a:solidFill>
                  <a:srgbClr val="F0E6D2"/>
                </a:solidFill>
                <a:latin typeface="Calibri"/>
              </a:rPr>
              <a:t>• </a:t>
            </a:r>
            <a:r>
              <a:rPr sz="1250" b="1">
                <a:solidFill>
                  <a:srgbClr val="F0E6D2"/>
                </a:solidFill>
                <a:latin typeface="Calibri"/>
              </a:rPr>
              <a:t>Kubernetes (kustomize)</a:t>
            </a:r>
          </a:p>
        </p:txBody>
      </p:sp>
      <p:sp>
        <p:nvSpPr>
          <p:cNvPr id="30" name="TextBox 29"/>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31" name="TextBox 30"/>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4 · ROADMAP</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Une feuille de route en 4 phases</a:t>
            </a:r>
          </a:p>
        </p:txBody>
      </p:sp>
      <p:sp>
        <p:nvSpPr>
          <p:cNvPr id="6" name="Rectangle 5"/>
          <p:cNvSpPr/>
          <p:nvPr/>
        </p:nvSpPr>
        <p:spPr>
          <a:xfrm>
            <a:off x="822960" y="2240280"/>
            <a:ext cx="10515600" cy="381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41932" y="2121408"/>
            <a:ext cx="219456" cy="219456"/>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606040"/>
            <a:ext cx="2606040" cy="3383280"/>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606040"/>
            <a:ext cx="2606040" cy="502920"/>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651760"/>
            <a:ext cx="2606040" cy="41148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250" b="1">
                <a:solidFill>
                  <a:srgbClr val="0A1428"/>
                </a:solidFill>
                <a:latin typeface="Calibri"/>
              </a:rPr>
              <a:t>PHASE 1 · 17 mars</a:t>
            </a:r>
          </a:p>
        </p:txBody>
      </p:sp>
      <p:sp>
        <p:nvSpPr>
          <p:cNvPr id="11" name="TextBox 10"/>
          <p:cNvSpPr txBox="1"/>
          <p:nvPr/>
        </p:nvSpPr>
        <p:spPr>
          <a:xfrm>
            <a:off x="749808" y="3246120"/>
            <a:ext cx="2240280" cy="109728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00" b="1">
                <a:solidFill>
                  <a:srgbClr val="F0E6D2"/>
                </a:solidFill>
                <a:latin typeface="Calibri"/>
              </a:rPr>
              <a:t>Fondations &amp;
Conteneurisation</a:t>
            </a:r>
          </a:p>
        </p:txBody>
      </p:sp>
      <p:sp>
        <p:nvSpPr>
          <p:cNvPr id="12" name="TextBox 11"/>
          <p:cNvSpPr txBox="1"/>
          <p:nvPr/>
        </p:nvSpPr>
        <p:spPr>
          <a:xfrm>
            <a:off x="749808" y="4343400"/>
            <a:ext cx="2240280" cy="1554480"/>
          </a:xfrm>
          <a:prstGeom prst="rect">
            <a:avLst/>
          </a:prstGeom>
          <a:noFill/>
        </p:spPr>
        <p:txBody>
          <a:bodyPr wrap="square" anchor="t" lIns="25400" rIns="25400" tIns="12700" bIns="12700">
            <a:spAutoFit/>
          </a:bodyPr>
          <a:lstStyle/>
          <a:p>
            <a:pPr algn="l">
              <a:lnSpc>
                <a:spcPct val="110000"/>
              </a:lnSpc>
              <a:spcBef>
                <a:spcPts val="0"/>
              </a:spcBef>
              <a:spcAft>
                <a:spcPts val="600"/>
              </a:spcAft>
            </a:pPr>
            <a:r>
              <a:rPr sz="1150" b="0">
                <a:solidFill>
                  <a:srgbClr val="A09B8C"/>
                </a:solidFill>
                <a:latin typeface="Calibri"/>
              </a:rPr>
              <a:t>Base reproductible · données &amp; features · modèles servis · tests · API</a:t>
            </a:r>
          </a:p>
        </p:txBody>
      </p:sp>
      <p:sp>
        <p:nvSpPr>
          <p:cNvPr id="13" name="Rounded Rectangle 12"/>
          <p:cNvSpPr/>
          <p:nvPr/>
        </p:nvSpPr>
        <p:spPr>
          <a:xfrm>
            <a:off x="4457700" y="2121408"/>
            <a:ext cx="219456" cy="219456"/>
          </a:xfrm>
          <a:prstGeom prst="round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64408" y="2606040"/>
            <a:ext cx="2606040" cy="3383280"/>
          </a:xfrm>
          <a:prstGeom prst="roundRect">
            <a:avLst/>
          </a:prstGeom>
          <a:solidFill>
            <a:srgbClr val="10203C"/>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64408" y="2606040"/>
            <a:ext cx="2606040" cy="502920"/>
          </a:xfrm>
          <a:prstGeom prst="round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2651760"/>
            <a:ext cx="2606040" cy="41148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250" b="1">
                <a:solidFill>
                  <a:srgbClr val="0A1428"/>
                </a:solidFill>
                <a:latin typeface="Calibri"/>
              </a:rPr>
              <a:t>PHASE 2 · 27 avril</a:t>
            </a:r>
          </a:p>
        </p:txBody>
      </p:sp>
      <p:sp>
        <p:nvSpPr>
          <p:cNvPr id="17" name="TextBox 16"/>
          <p:cNvSpPr txBox="1"/>
          <p:nvPr/>
        </p:nvSpPr>
        <p:spPr>
          <a:xfrm>
            <a:off x="3465576" y="3246120"/>
            <a:ext cx="2240280" cy="109728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00" b="1">
                <a:solidFill>
                  <a:srgbClr val="F0E6D2"/>
                </a:solidFill>
                <a:latin typeface="Calibri"/>
              </a:rPr>
              <a:t>Suivi &amp;
Versioning</a:t>
            </a:r>
          </a:p>
        </p:txBody>
      </p:sp>
      <p:sp>
        <p:nvSpPr>
          <p:cNvPr id="18" name="TextBox 17"/>
          <p:cNvSpPr txBox="1"/>
          <p:nvPr/>
        </p:nvSpPr>
        <p:spPr>
          <a:xfrm>
            <a:off x="3465576" y="4343400"/>
            <a:ext cx="2240280" cy="1554480"/>
          </a:xfrm>
          <a:prstGeom prst="rect">
            <a:avLst/>
          </a:prstGeom>
          <a:noFill/>
        </p:spPr>
        <p:txBody>
          <a:bodyPr wrap="square" anchor="t" lIns="25400" rIns="25400" tIns="12700" bIns="12700">
            <a:spAutoFit/>
          </a:bodyPr>
          <a:lstStyle/>
          <a:p>
            <a:pPr algn="l">
              <a:lnSpc>
                <a:spcPct val="110000"/>
              </a:lnSpc>
              <a:spcBef>
                <a:spcPts val="0"/>
              </a:spcBef>
              <a:spcAft>
                <a:spcPts val="600"/>
              </a:spcAft>
            </a:pPr>
            <a:r>
              <a:rPr sz="1150" b="0">
                <a:solidFill>
                  <a:srgbClr val="A09B8C"/>
                </a:solidFill>
                <a:latin typeface="Calibri"/>
              </a:rPr>
              <a:t>MLflow tracking · Model Registry · DVC · wrapper fail-safe</a:t>
            </a:r>
          </a:p>
        </p:txBody>
      </p:sp>
      <p:sp>
        <p:nvSpPr>
          <p:cNvPr id="19" name="Rounded Rectangle 18"/>
          <p:cNvSpPr/>
          <p:nvPr/>
        </p:nvSpPr>
        <p:spPr>
          <a:xfrm>
            <a:off x="7173468" y="2121408"/>
            <a:ext cx="219456" cy="219456"/>
          </a:xfrm>
          <a:prstGeom prst="round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80176" y="2606040"/>
            <a:ext cx="2606040" cy="3383280"/>
          </a:xfrm>
          <a:prstGeom prst="roundRect">
            <a:avLst/>
          </a:prstGeom>
          <a:solidFill>
            <a:srgbClr val="10203C"/>
          </a:solidFill>
          <a:ln w="1270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80176" y="2606040"/>
            <a:ext cx="2606040" cy="502920"/>
          </a:xfrm>
          <a:prstGeom prst="round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0176" y="2651760"/>
            <a:ext cx="2606040" cy="41148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250" b="1">
                <a:solidFill>
                  <a:srgbClr val="0A1428"/>
                </a:solidFill>
                <a:latin typeface="Calibri"/>
              </a:rPr>
              <a:t>PHASE 3 · 30 mai</a:t>
            </a:r>
          </a:p>
        </p:txBody>
      </p:sp>
      <p:sp>
        <p:nvSpPr>
          <p:cNvPr id="23" name="TextBox 22"/>
          <p:cNvSpPr txBox="1"/>
          <p:nvPr/>
        </p:nvSpPr>
        <p:spPr>
          <a:xfrm>
            <a:off x="6181344" y="3246120"/>
            <a:ext cx="2240280" cy="109728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00" b="1">
                <a:solidFill>
                  <a:srgbClr val="F0E6D2"/>
                </a:solidFill>
                <a:latin typeface="Calibri"/>
              </a:rPr>
              <a:t>Orchestration &amp;
Déploiement</a:t>
            </a:r>
          </a:p>
        </p:txBody>
      </p:sp>
      <p:sp>
        <p:nvSpPr>
          <p:cNvPr id="24" name="TextBox 23"/>
          <p:cNvSpPr txBox="1"/>
          <p:nvPr/>
        </p:nvSpPr>
        <p:spPr>
          <a:xfrm>
            <a:off x="6181344" y="4343400"/>
            <a:ext cx="2240280" cy="1554480"/>
          </a:xfrm>
          <a:prstGeom prst="rect">
            <a:avLst/>
          </a:prstGeom>
          <a:noFill/>
        </p:spPr>
        <p:txBody>
          <a:bodyPr wrap="square" anchor="t" lIns="25400" rIns="25400" tIns="12700" bIns="12700">
            <a:spAutoFit/>
          </a:bodyPr>
          <a:lstStyle/>
          <a:p>
            <a:pPr algn="l">
              <a:lnSpc>
                <a:spcPct val="110000"/>
              </a:lnSpc>
              <a:spcBef>
                <a:spcPts val="0"/>
              </a:spcBef>
              <a:spcAft>
                <a:spcPts val="600"/>
              </a:spcAft>
            </a:pPr>
            <a:r>
              <a:rPr sz="1150" b="0">
                <a:solidFill>
                  <a:srgbClr val="A09B8C"/>
                </a:solidFill>
                <a:latin typeface="Calibri"/>
              </a:rPr>
              <a:t>CI GitHub Actions · Makefile e2e · Kubernetes (kustomize)</a:t>
            </a:r>
          </a:p>
        </p:txBody>
      </p:sp>
      <p:sp>
        <p:nvSpPr>
          <p:cNvPr id="25" name="Rounded Rectangle 24"/>
          <p:cNvSpPr/>
          <p:nvPr/>
        </p:nvSpPr>
        <p:spPr>
          <a:xfrm>
            <a:off x="9889236" y="2121408"/>
            <a:ext cx="219456" cy="219456"/>
          </a:xfrm>
          <a:prstGeom prst="round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95944" y="2606040"/>
            <a:ext cx="2606040" cy="3383280"/>
          </a:xfrm>
          <a:prstGeom prst="roundRect">
            <a:avLst/>
          </a:prstGeom>
          <a:solidFill>
            <a:srgbClr val="10203C"/>
          </a:solidFill>
          <a:ln w="12700">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695944" y="2606040"/>
            <a:ext cx="2606040" cy="502920"/>
          </a:xfrm>
          <a:prstGeom prst="round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95944" y="2651760"/>
            <a:ext cx="2606040" cy="41148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250" b="1">
                <a:solidFill>
                  <a:srgbClr val="0A1428"/>
                </a:solidFill>
                <a:latin typeface="Calibri"/>
              </a:rPr>
              <a:t>PHASE 4 · 25 mai</a:t>
            </a:r>
          </a:p>
        </p:txBody>
      </p:sp>
      <p:sp>
        <p:nvSpPr>
          <p:cNvPr id="29" name="TextBox 28"/>
          <p:cNvSpPr txBox="1"/>
          <p:nvPr/>
        </p:nvSpPr>
        <p:spPr>
          <a:xfrm>
            <a:off x="8897112" y="3246120"/>
            <a:ext cx="2240280" cy="109728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500" b="1">
                <a:solidFill>
                  <a:srgbClr val="F0E6D2"/>
                </a:solidFill>
                <a:latin typeface="Calibri"/>
              </a:rPr>
              <a:t>Monitoring &amp;
Maintenance</a:t>
            </a:r>
          </a:p>
        </p:txBody>
      </p:sp>
      <p:sp>
        <p:nvSpPr>
          <p:cNvPr id="30" name="TextBox 29"/>
          <p:cNvSpPr txBox="1"/>
          <p:nvPr/>
        </p:nvSpPr>
        <p:spPr>
          <a:xfrm>
            <a:off x="8897112" y="4343400"/>
            <a:ext cx="2240280" cy="1554480"/>
          </a:xfrm>
          <a:prstGeom prst="rect">
            <a:avLst/>
          </a:prstGeom>
          <a:noFill/>
        </p:spPr>
        <p:txBody>
          <a:bodyPr wrap="square" anchor="t" lIns="25400" rIns="25400" tIns="12700" bIns="12700">
            <a:spAutoFit/>
          </a:bodyPr>
          <a:lstStyle/>
          <a:p>
            <a:pPr algn="l">
              <a:lnSpc>
                <a:spcPct val="110000"/>
              </a:lnSpc>
              <a:spcBef>
                <a:spcPts val="0"/>
              </a:spcBef>
              <a:spcAft>
                <a:spcPts val="600"/>
              </a:spcAft>
            </a:pPr>
            <a:r>
              <a:rPr sz="1150" b="0">
                <a:solidFill>
                  <a:srgbClr val="A09B8C"/>
                </a:solidFill>
                <a:latin typeface="Calibri"/>
              </a:rPr>
              <a:t>Prometheus/Grafana · drift Evidently · auto-retrain · doc</a:t>
            </a:r>
          </a:p>
        </p:txBody>
      </p:sp>
      <p:sp>
        <p:nvSpPr>
          <p:cNvPr id="31" name="TextBox 3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32" name="TextBox 3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6240" cy="685800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0" y="0"/>
            <a:ext cx="38100"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2918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a:solidFill>
                  <a:srgbClr val="0AC8B9"/>
                </a:solidFill>
                <a:latin typeface="Calibri"/>
              </a:rPr>
              <a:t>PHASE 1</a:t>
            </a:r>
          </a:p>
        </p:txBody>
      </p:sp>
      <p:sp>
        <p:nvSpPr>
          <p:cNvPr id="6" name="TextBox 5"/>
          <p:cNvSpPr txBox="1"/>
          <p:nvPr/>
        </p:nvSpPr>
        <p:spPr>
          <a:xfrm>
            <a:off x="548640" y="1783080"/>
            <a:ext cx="3383280" cy="1463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Fondations &amp;
Conteneurisation</a:t>
            </a:r>
          </a:p>
        </p:txBody>
      </p:sp>
      <p:sp>
        <p:nvSpPr>
          <p:cNvPr id="7" name="Rounded Rectangle 6"/>
          <p:cNvSpPr/>
          <p:nvPr/>
        </p:nvSpPr>
        <p:spPr>
          <a:xfrm>
            <a:off x="548640" y="3657600"/>
            <a:ext cx="2468880" cy="384048"/>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2468880" cy="384048"/>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300" b="1">
                <a:solidFill>
                  <a:srgbClr val="0AC8B9"/>
                </a:solidFill>
                <a:latin typeface="Calibri"/>
              </a:rPr>
              <a:t>Échéance · 17 mars</a:t>
            </a:r>
          </a:p>
        </p:txBody>
      </p:sp>
      <p:sp>
        <p:nvSpPr>
          <p:cNvPr id="9" name="TextBox 8"/>
          <p:cNvSpPr txBox="1"/>
          <p:nvPr/>
        </p:nvSpPr>
        <p:spPr>
          <a:xfrm>
            <a:off x="4663440" y="1143000"/>
            <a:ext cx="69494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a:solidFill>
                  <a:srgbClr val="0AC8B9"/>
                </a:solidFill>
                <a:latin typeface="Calibri"/>
              </a:rPr>
              <a:t>OBJECTIFS DE LA PHASE</a:t>
            </a:r>
          </a:p>
        </p:txBody>
      </p:sp>
      <p:sp>
        <p:nvSpPr>
          <p:cNvPr id="10" name="TextBox 9"/>
          <p:cNvSpPr txBox="1"/>
          <p:nvPr/>
        </p:nvSpPr>
        <p:spPr>
          <a:xfrm>
            <a:off x="4663440" y="1783080"/>
            <a:ext cx="6858000" cy="4572000"/>
          </a:xfrm>
          <a:prstGeom prst="rect">
            <a:avLst/>
          </a:prstGeom>
          <a:noFill/>
        </p:spPr>
        <p:txBody>
          <a:bodyPr wrap="square">
            <a:spAutoFit/>
          </a:bodyPr>
          <a:lstStyle/>
          <a:p>
            <a:pPr>
              <a:lnSpc>
                <a:spcPct val="105000"/>
              </a:lnSpc>
              <a:spcBef>
                <a:spcPts val="0"/>
              </a:spcBef>
              <a:spcAft>
                <a:spcPts val="1500"/>
              </a:spcAft>
            </a:pPr>
            <a:r>
              <a:rPr sz="1600" b="1">
                <a:solidFill>
                  <a:srgbClr val="0AC8B9"/>
                </a:solidFill>
                <a:latin typeface="Calibri"/>
              </a:rPr>
              <a:t>▸ </a:t>
            </a:r>
            <a:r>
              <a:rPr sz="1600" b="1">
                <a:solidFill>
                  <a:srgbClr val="F0E6D2"/>
                </a:solidFill>
                <a:latin typeface="Calibri"/>
              </a:rPr>
              <a:t>Base 100% reproductible</a:t>
            </a:r>
            <a:r>
              <a:rPr sz="1500">
                <a:solidFill>
                  <a:srgbClr val="A09B8C"/>
                </a:solidFill>
                <a:latin typeface="Calibri"/>
              </a:rPr>
              <a:t>  —  Docker Compose + .env.example</a:t>
            </a:r>
          </a:p>
          <a:p>
            <a:pPr>
              <a:lnSpc>
                <a:spcPct val="105000"/>
              </a:lnSpc>
              <a:spcBef>
                <a:spcPts val="0"/>
              </a:spcBef>
              <a:spcAft>
                <a:spcPts val="1500"/>
              </a:spcAft>
            </a:pPr>
            <a:r>
              <a:rPr sz="1600" b="1">
                <a:solidFill>
                  <a:srgbClr val="0AC8B9"/>
                </a:solidFill>
                <a:latin typeface="Calibri"/>
              </a:rPr>
              <a:t>▸ </a:t>
            </a:r>
            <a:r>
              <a:rPr sz="1600" b="1">
                <a:solidFill>
                  <a:srgbClr val="F0E6D2"/>
                </a:solidFill>
                <a:latin typeface="Calibri"/>
              </a:rPr>
              <a:t>API d'inférence FastAPI</a:t>
            </a:r>
            <a:r>
              <a:rPr sz="1500">
                <a:solidFill>
                  <a:srgbClr val="A09B8C"/>
                </a:solidFill>
                <a:latin typeface="Calibri"/>
              </a:rPr>
              <a:t>  —  servir les modèles draft &amp; timeline</a:t>
            </a:r>
          </a:p>
          <a:p>
            <a:pPr>
              <a:lnSpc>
                <a:spcPct val="105000"/>
              </a:lnSpc>
              <a:spcBef>
                <a:spcPts val="0"/>
              </a:spcBef>
              <a:spcAft>
                <a:spcPts val="1500"/>
              </a:spcAft>
            </a:pPr>
            <a:r>
              <a:rPr sz="1600" b="1">
                <a:solidFill>
                  <a:srgbClr val="0AC8B9"/>
                </a:solidFill>
                <a:latin typeface="Calibri"/>
              </a:rPr>
              <a:t>▸ </a:t>
            </a:r>
            <a:r>
              <a:rPr sz="1600" b="1">
                <a:solidFill>
                  <a:srgbClr val="F0E6D2"/>
                </a:solidFill>
                <a:latin typeface="Calibri"/>
              </a:rPr>
              <a:t>Suite de tests sans Docker ni DB</a:t>
            </a:r>
            <a:r>
              <a:rPr sz="1500">
                <a:solidFill>
                  <a:srgbClr val="A09B8C"/>
                </a:solidFill>
                <a:latin typeface="Calibri"/>
              </a:rPr>
              <a:t>  —  47 tests, modèles &amp; DB mockés</a:t>
            </a:r>
          </a:p>
          <a:p>
            <a:pPr>
              <a:lnSpc>
                <a:spcPct val="105000"/>
              </a:lnSpc>
              <a:spcBef>
                <a:spcPts val="0"/>
              </a:spcBef>
              <a:spcAft>
                <a:spcPts val="1500"/>
              </a:spcAft>
            </a:pPr>
            <a:r>
              <a:rPr sz="1600" b="1">
                <a:solidFill>
                  <a:srgbClr val="0AC8B9"/>
                </a:solidFill>
                <a:latin typeface="Calibri"/>
              </a:rPr>
              <a:t>▸ </a:t>
            </a:r>
            <a:r>
              <a:rPr sz="1600" b="1">
                <a:solidFill>
                  <a:srgbClr val="F0E6D2"/>
                </a:solidFill>
                <a:latin typeface="Calibri"/>
              </a:rPr>
              <a:t>Données &amp; features</a:t>
            </a:r>
            <a:r>
              <a:rPr sz="1500">
                <a:solidFill>
                  <a:srgbClr val="A09B8C"/>
                </a:solidFill>
                <a:latin typeface="Calibri"/>
              </a:rPr>
              <a:t>  —  dump Postgres + ~153 features dérivées</a:t>
            </a:r>
          </a:p>
          <a:p>
            <a:pPr>
              <a:lnSpc>
                <a:spcPct val="105000"/>
              </a:lnSpc>
              <a:spcBef>
                <a:spcPts val="0"/>
              </a:spcBef>
              <a:spcAft>
                <a:spcPts val="1500"/>
              </a:spcAft>
            </a:pPr>
            <a:r>
              <a:rPr sz="1600" b="1">
                <a:solidFill>
                  <a:srgbClr val="0AC8B9"/>
                </a:solidFill>
                <a:latin typeface="Calibri"/>
              </a:rPr>
              <a:t>▸ </a:t>
            </a:r>
            <a:r>
              <a:rPr sz="1600" b="1">
                <a:solidFill>
                  <a:srgbClr val="F0E6D2"/>
                </a:solidFill>
                <a:latin typeface="Calibri"/>
              </a:rPr>
              <a:t>Hygiène du dépôt</a:t>
            </a:r>
            <a:r>
              <a:rPr sz="1500">
                <a:solidFill>
                  <a:srgbClr val="A09B8C"/>
                </a:solidFill>
                <a:latin typeface="Calibri"/>
              </a:rPr>
              <a:t>  —  pas de secrets, dump volumineux git-ignoré</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PHASE 1 · DONNÉES</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Données &amp; feature engineering</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4937760" cy="4023360"/>
          </a:xfrm>
          <a:prstGeom prst="rect">
            <a:avLst/>
          </a:prstGeom>
          <a:noFill/>
        </p:spPr>
        <p:txBody>
          <a:bodyPr wrap="square">
            <a:spAutoFit/>
          </a:bodyPr>
          <a:lstStyle/>
          <a:p>
            <a:pPr>
              <a:lnSpc>
                <a:spcPct val="105000"/>
              </a:lnSpc>
              <a:spcBef>
                <a:spcPts val="0"/>
              </a:spcBef>
              <a:spcAft>
                <a:spcPts val="1200"/>
              </a:spcAft>
            </a:pPr>
            <a:r>
              <a:rPr sz="1350" b="1">
                <a:solidFill>
                  <a:srgbClr val="0AC8B9"/>
                </a:solidFill>
                <a:latin typeface="Calibri"/>
              </a:rPr>
              <a:t>▸ </a:t>
            </a:r>
            <a:r>
              <a:rPr sz="1350" b="1">
                <a:solidFill>
                  <a:srgbClr val="F0E6D2"/>
                </a:solidFill>
                <a:latin typeface="Calibri"/>
              </a:rPr>
              <a:t>Source : matchs + timeline (Riot)</a:t>
            </a:r>
            <a:r>
              <a:rPr sz="1250">
                <a:solidFill>
                  <a:srgbClr val="A09B8C"/>
                </a:solidFill>
                <a:latin typeface="Calibri"/>
              </a:rPr>
              <a:t>  —  stockés dans PostgreSQL (dump ~747 Mo)</a:t>
            </a:r>
          </a:p>
          <a:p>
            <a:pPr>
              <a:lnSpc>
                <a:spcPct val="105000"/>
              </a:lnSpc>
              <a:spcBef>
                <a:spcPts val="0"/>
              </a:spcBef>
              <a:spcAft>
                <a:spcPts val="1200"/>
              </a:spcAft>
            </a:pPr>
            <a:r>
              <a:rPr sz="1350" b="1">
                <a:solidFill>
                  <a:srgbClr val="0AC8B9"/>
                </a:solidFill>
                <a:latin typeface="Calibri"/>
              </a:rPr>
              <a:t>▸ </a:t>
            </a:r>
            <a:r>
              <a:rPr sz="1350" b="1">
                <a:solidFill>
                  <a:srgbClr val="F0E6D2"/>
                </a:solidFill>
                <a:latin typeface="Calibri"/>
              </a:rPr>
              <a:t>~153 features au total</a:t>
            </a:r>
            <a:r>
              <a:rPr sz="1250">
                <a:solidFill>
                  <a:srgbClr val="A09B8C"/>
                </a:solidFill>
                <a:latin typeface="Calibri"/>
              </a:rPr>
              <a:t>  —  par modèle de prédiction</a:t>
            </a:r>
          </a:p>
          <a:p>
            <a:pPr>
              <a:lnSpc>
                <a:spcPct val="105000"/>
              </a:lnSpc>
              <a:spcBef>
                <a:spcPts val="0"/>
              </a:spcBef>
              <a:spcAft>
                <a:spcPts val="1200"/>
              </a:spcAft>
            </a:pPr>
            <a:r>
              <a:rPr sz="1350" b="1">
                <a:solidFill>
                  <a:srgbClr val="0AC8B9"/>
                </a:solidFill>
                <a:latin typeface="Calibri"/>
              </a:rPr>
              <a:t>▸ </a:t>
            </a:r>
            <a:r>
              <a:rPr sz="1350" b="1">
                <a:solidFill>
                  <a:srgbClr val="F0E6D2"/>
                </a:solidFill>
                <a:latin typeface="Calibri"/>
              </a:rPr>
              <a:t>~69 features 'champion'</a:t>
            </a:r>
            <a:r>
              <a:rPr sz="1250">
                <a:solidFill>
                  <a:srgbClr val="A09B8C"/>
                </a:solidFill>
                <a:latin typeface="Calibri"/>
              </a:rPr>
              <a:t>  —  winrate / tier / pickrate, matchups par lane, synergie &amp; counter, avantage de draft</a:t>
            </a:r>
          </a:p>
          <a:p>
            <a:pPr>
              <a:lnSpc>
                <a:spcPct val="105000"/>
              </a:lnSpc>
              <a:spcBef>
                <a:spcPts val="0"/>
              </a:spcBef>
              <a:spcAft>
                <a:spcPts val="1200"/>
              </a:spcAft>
            </a:pPr>
            <a:r>
              <a:rPr sz="1350" b="1">
                <a:solidFill>
                  <a:srgbClr val="0AC8B9"/>
                </a:solidFill>
                <a:latin typeface="Calibri"/>
              </a:rPr>
              <a:t>▸ </a:t>
            </a:r>
            <a:r>
              <a:rPr sz="1350" b="1">
                <a:solidFill>
                  <a:srgbClr val="F0E6D2"/>
                </a:solidFill>
                <a:latin typeface="Calibri"/>
              </a:rPr>
              <a:t>~84 features 'invocateur'</a:t>
            </a:r>
            <a:r>
              <a:rPr sz="1250">
                <a:solidFill>
                  <a:srgbClr val="A09B8C"/>
                </a:solidFill>
                <a:latin typeface="Calibri"/>
              </a:rPr>
              <a:t>  —  winrate par rôle, mastery, séries, forme récente</a:t>
            </a:r>
          </a:p>
          <a:p>
            <a:pPr>
              <a:lnSpc>
                <a:spcPct val="105000"/>
              </a:lnSpc>
              <a:spcBef>
                <a:spcPts val="0"/>
              </a:spcBef>
              <a:spcAft>
                <a:spcPts val="1200"/>
              </a:spcAft>
            </a:pPr>
            <a:r>
              <a:rPr sz="1350" b="1">
                <a:solidFill>
                  <a:srgbClr val="0AC8B9"/>
                </a:solidFill>
                <a:latin typeface="Calibri"/>
              </a:rPr>
              <a:t>▸ </a:t>
            </a:r>
            <a:r>
              <a:rPr sz="1350" b="1">
                <a:solidFill>
                  <a:srgbClr val="F0E6D2"/>
                </a:solidFill>
                <a:latin typeface="Calibri"/>
              </a:rPr>
              <a:t>Sans identité joueur → défauts neutres</a:t>
            </a:r>
            <a:r>
              <a:rPr sz="1250">
                <a:solidFill>
                  <a:srgbClr val="A09B8C"/>
                </a:solidFill>
                <a:latin typeface="Calibri"/>
              </a:rPr>
              <a:t>  —  une requête de draft n'a pas de PUUID</a:t>
            </a:r>
          </a:p>
        </p:txBody>
      </p:sp>
      <p:sp>
        <p:nvSpPr>
          <p:cNvPr id="8" name="Rounded Rectangle 7"/>
          <p:cNvSpPr/>
          <p:nvPr/>
        </p:nvSpPr>
        <p:spPr>
          <a:xfrm>
            <a:off x="6309360" y="1691640"/>
            <a:ext cx="530352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74519"/>
            <a:ext cx="47548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C8AA6E"/>
                </a:solidFill>
                <a:latin typeface="Calibri"/>
              </a:rPr>
              <a:t>DE LA DRAFT À LA PRÉDICTION</a:t>
            </a:r>
          </a:p>
        </p:txBody>
      </p:sp>
      <p:sp>
        <p:nvSpPr>
          <p:cNvPr id="10" name="Rounded Rectangle 9"/>
          <p:cNvSpPr/>
          <p:nvPr/>
        </p:nvSpPr>
        <p:spPr>
          <a:xfrm>
            <a:off x="6583680" y="2331720"/>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404872"/>
            <a:ext cx="45720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1. Noms de champions</a:t>
            </a:r>
          </a:p>
        </p:txBody>
      </p:sp>
      <p:sp>
        <p:nvSpPr>
          <p:cNvPr id="12" name="TextBox 11"/>
          <p:cNvSpPr txBox="1"/>
          <p:nvPr/>
        </p:nvSpPr>
        <p:spPr>
          <a:xfrm>
            <a:off x="6766560" y="2660904"/>
            <a:ext cx="4572000" cy="21945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saisis dans l'UI</a:t>
            </a:r>
          </a:p>
        </p:txBody>
      </p:sp>
      <p:sp>
        <p:nvSpPr>
          <p:cNvPr id="13" name="Rounded Rectangle 12"/>
          <p:cNvSpPr/>
          <p:nvPr/>
        </p:nvSpPr>
        <p:spPr>
          <a:xfrm>
            <a:off x="6583680" y="3044952"/>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118104"/>
            <a:ext cx="45720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2. champion_id_map.json</a:t>
            </a:r>
          </a:p>
        </p:txBody>
      </p:sp>
      <p:sp>
        <p:nvSpPr>
          <p:cNvPr id="15" name="TextBox 14"/>
          <p:cNvSpPr txBox="1"/>
          <p:nvPr/>
        </p:nvSpPr>
        <p:spPr>
          <a:xfrm>
            <a:off x="6766560" y="3374136"/>
            <a:ext cx="4572000" cy="21945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résolution → ids (statique)</a:t>
            </a:r>
          </a:p>
        </p:txBody>
      </p:sp>
      <p:sp>
        <p:nvSpPr>
          <p:cNvPr id="16" name="Rounded Rectangle 15"/>
          <p:cNvSpPr/>
          <p:nvPr/>
        </p:nvSpPr>
        <p:spPr>
          <a:xfrm>
            <a:off x="6583680" y="3758183"/>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831335"/>
            <a:ext cx="45720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3. Tables embarquées dans le .pkl</a:t>
            </a:r>
          </a:p>
        </p:txBody>
      </p:sp>
      <p:sp>
        <p:nvSpPr>
          <p:cNvPr id="18" name="TextBox 17"/>
          <p:cNvSpPr txBox="1"/>
          <p:nvPr/>
        </p:nvSpPr>
        <p:spPr>
          <a:xfrm>
            <a:off x="6766560" y="4087367"/>
            <a:ext cx="4572000" cy="21945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external_data + synergy_data</a:t>
            </a:r>
          </a:p>
        </p:txBody>
      </p:sp>
      <p:sp>
        <p:nvSpPr>
          <p:cNvPr id="19" name="Rounded Rectangle 18"/>
          <p:cNvSpPr/>
          <p:nvPr/>
        </p:nvSpPr>
        <p:spPr>
          <a:xfrm>
            <a:off x="6583680" y="4471416"/>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4544568"/>
            <a:ext cx="45720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4. ~69 features champion</a:t>
            </a:r>
          </a:p>
        </p:txBody>
      </p:sp>
      <p:sp>
        <p:nvSpPr>
          <p:cNvPr id="21" name="TextBox 20"/>
          <p:cNvSpPr txBox="1"/>
          <p:nvPr/>
        </p:nvSpPr>
        <p:spPr>
          <a:xfrm>
            <a:off x="6766560" y="4800600"/>
            <a:ext cx="4572000" cy="21945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construites à la volée</a:t>
            </a:r>
          </a:p>
        </p:txBody>
      </p:sp>
      <p:sp>
        <p:nvSpPr>
          <p:cNvPr id="22" name="Rounded Rectangle 21"/>
          <p:cNvSpPr/>
          <p:nvPr/>
        </p:nvSpPr>
        <p:spPr>
          <a:xfrm>
            <a:off x="6583680" y="5184648"/>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5257800"/>
            <a:ext cx="45720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5. Modèle → proba blue_win</a:t>
            </a:r>
          </a:p>
        </p:txBody>
      </p:sp>
      <p:sp>
        <p:nvSpPr>
          <p:cNvPr id="24" name="TextBox 23"/>
          <p:cNvSpPr txBox="1"/>
          <p:nvPr/>
        </p:nvSpPr>
        <p:spPr>
          <a:xfrm>
            <a:off x="6766560" y="5513832"/>
            <a:ext cx="4572000" cy="21945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50" b="0">
                <a:solidFill>
                  <a:srgbClr val="A09B8C"/>
                </a:solidFill>
                <a:latin typeface="Calibri"/>
              </a:rPr>
              <a:t>ex. 0.536 vs 0.725 selon la draft</a:t>
            </a:r>
          </a:p>
        </p:txBody>
      </p:sp>
      <p:sp>
        <p:nvSpPr>
          <p:cNvPr id="25" name="TextBox 24"/>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6" name="TextBox 25"/>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PHASE 1 · MODÈLES</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Modèles servis &amp; performances</a:t>
            </a:r>
          </a:p>
        </p:txBody>
      </p:sp>
      <p:sp>
        <p:nvSpPr>
          <p:cNvPr id="6" name="Rounded Rectangle 5"/>
          <p:cNvSpPr/>
          <p:nvPr/>
        </p:nvSpPr>
        <p:spPr>
          <a:xfrm>
            <a:off x="548640" y="1828800"/>
            <a:ext cx="7040880" cy="45720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1463040" cy="45720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00" b="1">
                <a:solidFill>
                  <a:srgbClr val="C8AA6E"/>
                </a:solidFill>
                <a:latin typeface="Calibri"/>
              </a:rPr>
              <a:t>MODÈLE</a:t>
            </a:r>
          </a:p>
        </p:txBody>
      </p:sp>
      <p:sp>
        <p:nvSpPr>
          <p:cNvPr id="8" name="TextBox 7"/>
          <p:cNvSpPr txBox="1"/>
          <p:nvPr/>
        </p:nvSpPr>
        <p:spPr>
          <a:xfrm>
            <a:off x="2240280" y="1828800"/>
            <a:ext cx="1554480" cy="45720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00" b="1">
                <a:solidFill>
                  <a:srgbClr val="C8AA6E"/>
                </a:solidFill>
                <a:latin typeface="Calibri"/>
              </a:rPr>
              <a:t>TYPE</a:t>
            </a:r>
          </a:p>
        </p:txBody>
      </p:sp>
      <p:sp>
        <p:nvSpPr>
          <p:cNvPr id="9" name="TextBox 8"/>
          <p:cNvSpPr txBox="1"/>
          <p:nvPr/>
        </p:nvSpPr>
        <p:spPr>
          <a:xfrm>
            <a:off x="3794760" y="1828800"/>
            <a:ext cx="1554480" cy="45720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00" b="1">
                <a:solidFill>
                  <a:srgbClr val="C8AA6E"/>
                </a:solidFill>
                <a:latin typeface="Calibri"/>
              </a:rPr>
              <a:t>ACCURACY</a:t>
            </a:r>
          </a:p>
        </p:txBody>
      </p:sp>
      <p:sp>
        <p:nvSpPr>
          <p:cNvPr id="10" name="TextBox 9"/>
          <p:cNvSpPr txBox="1"/>
          <p:nvPr/>
        </p:nvSpPr>
        <p:spPr>
          <a:xfrm>
            <a:off x="5349240" y="1828800"/>
            <a:ext cx="1371600" cy="45720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200" b="1">
                <a:solidFill>
                  <a:srgbClr val="C8AA6E"/>
                </a:solidFill>
                <a:latin typeface="Calibri"/>
              </a:rPr>
              <a:t>ROC-AUC</a:t>
            </a:r>
          </a:p>
        </p:txBody>
      </p:sp>
      <p:sp>
        <p:nvSpPr>
          <p:cNvPr id="11" name="Rounded Rectangle 10"/>
          <p:cNvSpPr/>
          <p:nvPr/>
        </p:nvSpPr>
        <p:spPr>
          <a:xfrm>
            <a:off x="548640" y="2395728"/>
            <a:ext cx="7040880" cy="493776"/>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395728"/>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0AC8B9"/>
                </a:solidFill>
                <a:latin typeface="Calibri"/>
              </a:rPr>
              <a:t>Draft</a:t>
            </a:r>
          </a:p>
        </p:txBody>
      </p:sp>
      <p:sp>
        <p:nvSpPr>
          <p:cNvPr id="13" name="TextBox 12"/>
          <p:cNvSpPr txBox="1"/>
          <p:nvPr/>
        </p:nvSpPr>
        <p:spPr>
          <a:xfrm>
            <a:off x="2240280" y="2395728"/>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0">
                <a:solidFill>
                  <a:srgbClr val="F0E6D2"/>
                </a:solidFill>
                <a:latin typeface="Calibri"/>
              </a:rPr>
              <a:t>XGBoost</a:t>
            </a:r>
          </a:p>
        </p:txBody>
      </p:sp>
      <p:sp>
        <p:nvSpPr>
          <p:cNvPr id="14" name="TextBox 13"/>
          <p:cNvSpPr txBox="1"/>
          <p:nvPr/>
        </p:nvSpPr>
        <p:spPr>
          <a:xfrm>
            <a:off x="3794760" y="2395728"/>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54.0%</a:t>
            </a:r>
          </a:p>
        </p:txBody>
      </p:sp>
      <p:sp>
        <p:nvSpPr>
          <p:cNvPr id="15" name="TextBox 14"/>
          <p:cNvSpPr txBox="1"/>
          <p:nvPr/>
        </p:nvSpPr>
        <p:spPr>
          <a:xfrm>
            <a:off x="5349240" y="2395728"/>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0.555</a:t>
            </a:r>
          </a:p>
        </p:txBody>
      </p:sp>
      <p:sp>
        <p:nvSpPr>
          <p:cNvPr id="16" name="Rounded Rectangle 15"/>
          <p:cNvSpPr/>
          <p:nvPr/>
        </p:nvSpPr>
        <p:spPr>
          <a:xfrm>
            <a:off x="548640" y="2962656"/>
            <a:ext cx="7040880" cy="49377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962656"/>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0AC8B9"/>
                </a:solidFill>
                <a:latin typeface="Calibri"/>
              </a:rPr>
              <a:t>@5 min</a:t>
            </a:r>
          </a:p>
        </p:txBody>
      </p:sp>
      <p:sp>
        <p:nvSpPr>
          <p:cNvPr id="18" name="TextBox 17"/>
          <p:cNvSpPr txBox="1"/>
          <p:nvPr/>
        </p:nvSpPr>
        <p:spPr>
          <a:xfrm>
            <a:off x="2240280" y="2962656"/>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0">
                <a:solidFill>
                  <a:srgbClr val="F0E6D2"/>
                </a:solidFill>
                <a:latin typeface="Calibri"/>
              </a:rPr>
              <a:t>LightGBM</a:t>
            </a:r>
          </a:p>
        </p:txBody>
      </p:sp>
      <p:sp>
        <p:nvSpPr>
          <p:cNvPr id="19" name="TextBox 18"/>
          <p:cNvSpPr txBox="1"/>
          <p:nvPr/>
        </p:nvSpPr>
        <p:spPr>
          <a:xfrm>
            <a:off x="3794760" y="2962656"/>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65.4%</a:t>
            </a:r>
          </a:p>
        </p:txBody>
      </p:sp>
      <p:sp>
        <p:nvSpPr>
          <p:cNvPr id="20" name="TextBox 19"/>
          <p:cNvSpPr txBox="1"/>
          <p:nvPr/>
        </p:nvSpPr>
        <p:spPr>
          <a:xfrm>
            <a:off x="5349240" y="2962656"/>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0.719</a:t>
            </a:r>
          </a:p>
        </p:txBody>
      </p:sp>
      <p:sp>
        <p:nvSpPr>
          <p:cNvPr id="21" name="Rounded Rectangle 20"/>
          <p:cNvSpPr/>
          <p:nvPr/>
        </p:nvSpPr>
        <p:spPr>
          <a:xfrm>
            <a:off x="548640" y="3529584"/>
            <a:ext cx="7040880" cy="493776"/>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529584"/>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0AC8B9"/>
                </a:solidFill>
                <a:latin typeface="Calibri"/>
              </a:rPr>
              <a:t>@10 min</a:t>
            </a:r>
          </a:p>
        </p:txBody>
      </p:sp>
      <p:sp>
        <p:nvSpPr>
          <p:cNvPr id="23" name="TextBox 22"/>
          <p:cNvSpPr txBox="1"/>
          <p:nvPr/>
        </p:nvSpPr>
        <p:spPr>
          <a:xfrm>
            <a:off x="2240280" y="3529584"/>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0">
                <a:solidFill>
                  <a:srgbClr val="F0E6D2"/>
                </a:solidFill>
                <a:latin typeface="Calibri"/>
              </a:rPr>
              <a:t>XGBoost</a:t>
            </a:r>
          </a:p>
        </p:txBody>
      </p:sp>
      <p:sp>
        <p:nvSpPr>
          <p:cNvPr id="24" name="TextBox 23"/>
          <p:cNvSpPr txBox="1"/>
          <p:nvPr/>
        </p:nvSpPr>
        <p:spPr>
          <a:xfrm>
            <a:off x="3794760" y="3529584"/>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72.0%</a:t>
            </a:r>
          </a:p>
        </p:txBody>
      </p:sp>
      <p:sp>
        <p:nvSpPr>
          <p:cNvPr id="25" name="TextBox 24"/>
          <p:cNvSpPr txBox="1"/>
          <p:nvPr/>
        </p:nvSpPr>
        <p:spPr>
          <a:xfrm>
            <a:off x="5349240" y="3529584"/>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0.797</a:t>
            </a:r>
          </a:p>
        </p:txBody>
      </p:sp>
      <p:sp>
        <p:nvSpPr>
          <p:cNvPr id="26" name="Rounded Rectangle 25"/>
          <p:cNvSpPr/>
          <p:nvPr/>
        </p:nvSpPr>
        <p:spPr>
          <a:xfrm>
            <a:off x="548640" y="4096512"/>
            <a:ext cx="7040880" cy="493776"/>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096512"/>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0AC8B9"/>
                </a:solidFill>
                <a:latin typeface="Calibri"/>
              </a:rPr>
              <a:t>@15 min</a:t>
            </a:r>
          </a:p>
        </p:txBody>
      </p:sp>
      <p:sp>
        <p:nvSpPr>
          <p:cNvPr id="28" name="TextBox 27"/>
          <p:cNvSpPr txBox="1"/>
          <p:nvPr/>
        </p:nvSpPr>
        <p:spPr>
          <a:xfrm>
            <a:off x="2240280" y="4096512"/>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0">
                <a:solidFill>
                  <a:srgbClr val="F0E6D2"/>
                </a:solidFill>
                <a:latin typeface="Calibri"/>
              </a:rPr>
              <a:t>XGBoost</a:t>
            </a:r>
          </a:p>
        </p:txBody>
      </p:sp>
      <p:sp>
        <p:nvSpPr>
          <p:cNvPr id="29" name="TextBox 28"/>
          <p:cNvSpPr txBox="1"/>
          <p:nvPr/>
        </p:nvSpPr>
        <p:spPr>
          <a:xfrm>
            <a:off x="3794760" y="4096512"/>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78.0%</a:t>
            </a:r>
          </a:p>
        </p:txBody>
      </p:sp>
      <p:sp>
        <p:nvSpPr>
          <p:cNvPr id="30" name="TextBox 29"/>
          <p:cNvSpPr txBox="1"/>
          <p:nvPr/>
        </p:nvSpPr>
        <p:spPr>
          <a:xfrm>
            <a:off x="5349240" y="4096512"/>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0.864</a:t>
            </a:r>
          </a:p>
        </p:txBody>
      </p:sp>
      <p:sp>
        <p:nvSpPr>
          <p:cNvPr id="31" name="Rounded Rectangle 30"/>
          <p:cNvSpPr/>
          <p:nvPr/>
        </p:nvSpPr>
        <p:spPr>
          <a:xfrm>
            <a:off x="548640" y="4663440"/>
            <a:ext cx="7040880" cy="493776"/>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4663440"/>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0AC8B9"/>
                </a:solidFill>
                <a:latin typeface="Calibri"/>
              </a:rPr>
              <a:t>@20 min</a:t>
            </a:r>
          </a:p>
        </p:txBody>
      </p:sp>
      <p:sp>
        <p:nvSpPr>
          <p:cNvPr id="33" name="TextBox 32"/>
          <p:cNvSpPr txBox="1"/>
          <p:nvPr/>
        </p:nvSpPr>
        <p:spPr>
          <a:xfrm>
            <a:off x="2240280" y="4663440"/>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0">
                <a:solidFill>
                  <a:srgbClr val="F0E6D2"/>
                </a:solidFill>
                <a:latin typeface="Calibri"/>
              </a:rPr>
              <a:t>XGBoost</a:t>
            </a:r>
          </a:p>
        </p:txBody>
      </p:sp>
      <p:sp>
        <p:nvSpPr>
          <p:cNvPr id="34" name="TextBox 33"/>
          <p:cNvSpPr txBox="1"/>
          <p:nvPr/>
        </p:nvSpPr>
        <p:spPr>
          <a:xfrm>
            <a:off x="3794760" y="4663440"/>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79.9%</a:t>
            </a:r>
          </a:p>
        </p:txBody>
      </p:sp>
      <p:sp>
        <p:nvSpPr>
          <p:cNvPr id="35" name="TextBox 34"/>
          <p:cNvSpPr txBox="1"/>
          <p:nvPr/>
        </p:nvSpPr>
        <p:spPr>
          <a:xfrm>
            <a:off x="5349240" y="4663440"/>
            <a:ext cx="1463040" cy="493776"/>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0.885</a:t>
            </a:r>
          </a:p>
        </p:txBody>
      </p:sp>
      <p:sp>
        <p:nvSpPr>
          <p:cNvPr id="36" name="Rounded Rectangle 35"/>
          <p:cNvSpPr/>
          <p:nvPr/>
        </p:nvSpPr>
        <p:spPr>
          <a:xfrm>
            <a:off x="7818120" y="1828800"/>
            <a:ext cx="3794760" cy="3611880"/>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0" y="2011680"/>
            <a:ext cx="33832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À RETENIR</a:t>
            </a:r>
          </a:p>
        </p:txBody>
      </p:sp>
      <p:sp>
        <p:nvSpPr>
          <p:cNvPr id="38" name="TextBox 37"/>
          <p:cNvSpPr txBox="1"/>
          <p:nvPr/>
        </p:nvSpPr>
        <p:spPr>
          <a:xfrm>
            <a:off x="8046720" y="2468880"/>
            <a:ext cx="3337560" cy="2926080"/>
          </a:xfrm>
          <a:prstGeom prst="rect">
            <a:avLst/>
          </a:prstGeom>
          <a:noFill/>
        </p:spPr>
        <p:txBody>
          <a:bodyPr wrap="square">
            <a:spAutoFit/>
          </a:bodyPr>
          <a:lstStyle/>
          <a:p>
            <a:pPr>
              <a:lnSpc>
                <a:spcPct val="105000"/>
              </a:lnSpc>
              <a:spcBef>
                <a:spcPts val="0"/>
              </a:spcBef>
              <a:spcAft>
                <a:spcPts val="1200"/>
              </a:spcAft>
            </a:pPr>
            <a:r>
              <a:rPr sz="1300" b="1">
                <a:solidFill>
                  <a:srgbClr val="0AC8B9"/>
                </a:solidFill>
                <a:latin typeface="Calibri"/>
              </a:rPr>
              <a:t>▸ </a:t>
            </a:r>
            <a:r>
              <a:rPr sz="1300" b="1">
                <a:solidFill>
                  <a:srgbClr val="F0E6D2"/>
                </a:solidFill>
                <a:latin typeface="Calibri"/>
              </a:rPr>
              <a:t>Modèles d'arbres (boosting)</a:t>
            </a:r>
            <a:r>
              <a:rPr sz="1200">
                <a:solidFill>
                  <a:srgbClr val="A09B8C"/>
                </a:solidFill>
                <a:latin typeface="Calibri"/>
              </a:rPr>
              <a:t>  —  efficaces &amp; explicables</a:t>
            </a:r>
          </a:p>
          <a:p>
            <a:pPr>
              <a:lnSpc>
                <a:spcPct val="105000"/>
              </a:lnSpc>
              <a:spcBef>
                <a:spcPts val="0"/>
              </a:spcBef>
              <a:spcAft>
                <a:spcPts val="1200"/>
              </a:spcAft>
            </a:pPr>
            <a:r>
              <a:rPr sz="1300" b="1">
                <a:solidFill>
                  <a:srgbClr val="0AC8B9"/>
                </a:solidFill>
                <a:latin typeface="Calibri"/>
              </a:rPr>
              <a:t>▸ </a:t>
            </a:r>
            <a:r>
              <a:rPr sz="1300" b="1">
                <a:solidFill>
                  <a:srgbClr val="F0E6D2"/>
                </a:solidFill>
                <a:latin typeface="Calibri"/>
              </a:rPr>
              <a:t>Précision croissante dans le temps</a:t>
            </a:r>
            <a:r>
              <a:rPr sz="1200">
                <a:solidFill>
                  <a:srgbClr val="A09B8C"/>
                </a:solidFill>
                <a:latin typeface="Calibri"/>
              </a:rPr>
              <a:t>  —  0.56 → 0.89 d'AUC</a:t>
            </a:r>
          </a:p>
          <a:p>
            <a:pPr>
              <a:lnSpc>
                <a:spcPct val="105000"/>
              </a:lnSpc>
              <a:spcBef>
                <a:spcPts val="0"/>
              </a:spcBef>
              <a:spcAft>
                <a:spcPts val="1200"/>
              </a:spcAft>
            </a:pPr>
            <a:r>
              <a:rPr sz="1300" b="1">
                <a:solidFill>
                  <a:srgbClr val="0AC8B9"/>
                </a:solidFill>
                <a:latin typeface="Calibri"/>
              </a:rPr>
              <a:t>▸ </a:t>
            </a:r>
            <a:r>
              <a:rPr sz="1300" b="1">
                <a:solidFill>
                  <a:srgbClr val="F0E6D2"/>
                </a:solidFill>
                <a:latin typeface="Calibri"/>
              </a:rPr>
              <a:t>Draft ~0.54 par nature</a:t>
            </a:r>
            <a:r>
              <a:rPr sz="1200">
                <a:solidFill>
                  <a:srgbClr val="A09B8C"/>
                </a:solidFill>
                <a:latin typeface="Calibri"/>
              </a:rPr>
              <a:t>  —  peu de signal avant la partie</a:t>
            </a:r>
          </a:p>
        </p:txBody>
      </p:sp>
      <p:sp>
        <p:nvSpPr>
          <p:cNvPr id="39" name="TextBox 38"/>
          <p:cNvSpPr txBox="1"/>
          <p:nvPr/>
        </p:nvSpPr>
        <p:spPr>
          <a:xfrm>
            <a:off x="548640" y="5715000"/>
            <a:ext cx="1097280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A09B8C"/>
                </a:solidFill>
                <a:latin typeface="Calibri"/>
              </a:rPr>
              <a:t>KPI de la Phase 1 = la reproductibilité (stack + 47 tests verts), pas l'amélioration des métriques modèles.</a:t>
            </a:r>
          </a:p>
        </p:txBody>
      </p:sp>
      <p:sp>
        <p:nvSpPr>
          <p:cNvPr id="40" name="TextBox 39"/>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41" name="TextBox 40"/>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09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PHASE 1 · API</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API d'inférence (FastAPI)</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4937760" cy="4023360"/>
          </a:xfrm>
          <a:prstGeom prst="rect">
            <a:avLst/>
          </a:prstGeom>
          <a:noFill/>
        </p:spPr>
        <p:txBody>
          <a:bodyPr wrap="square">
            <a:spAutoFit/>
          </a:bodyPr>
          <a:lstStyle/>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FastAPI + Pydantic</a:t>
            </a:r>
            <a:r>
              <a:rPr sz="1250">
                <a:solidFill>
                  <a:srgbClr val="A09B8C"/>
                </a:solidFill>
                <a:latin typeface="Calibri"/>
              </a:rPr>
              <a:t>  —  validation stricte des entrées</a:t>
            </a:r>
          </a:p>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/health · /models</a:t>
            </a:r>
            <a:r>
              <a:rPr sz="1250">
                <a:solidFill>
                  <a:srgbClr val="A09B8C"/>
                </a:solidFill>
                <a:latin typeface="Calibri"/>
              </a:rPr>
              <a:t>  —  supervision &amp; liste des modèles</a:t>
            </a:r>
          </a:p>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/predict/at/{minute}</a:t>
            </a:r>
            <a:r>
              <a:rPr sz="1250">
                <a:solidFill>
                  <a:srgbClr val="A09B8C"/>
                </a:solidFill>
                <a:latin typeface="Calibri"/>
              </a:rPr>
              <a:t>  —  prédiction timeline (entièrement câblée)</a:t>
            </a:r>
          </a:p>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/predict/draft</a:t>
            </a:r>
            <a:r>
              <a:rPr sz="1250">
                <a:solidFill>
                  <a:srgbClr val="A09B8C"/>
                </a:solidFill>
                <a:latin typeface="Calibri"/>
              </a:rPr>
              <a:t>  —  draft → proba, varie avec la composition</a:t>
            </a:r>
          </a:p>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/stats/overview · /metrics</a:t>
            </a:r>
            <a:r>
              <a:rPr sz="1250">
                <a:solidFill>
                  <a:srgbClr val="A09B8C"/>
                </a:solidFill>
                <a:latin typeface="Calibri"/>
              </a:rPr>
              <a:t>  —  stats DB + métriques Prometheus</a:t>
            </a:r>
          </a:p>
          <a:p>
            <a:pPr>
              <a:lnSpc>
                <a:spcPct val="105000"/>
              </a:lnSpc>
              <a:spcBef>
                <a:spcPts val="0"/>
              </a:spcBef>
              <a:spcAft>
                <a:spcPts val="1100"/>
              </a:spcAft>
            </a:pPr>
            <a:r>
              <a:rPr sz="1350" b="1">
                <a:solidFill>
                  <a:srgbClr val="0AC8B9"/>
                </a:solidFill>
                <a:latin typeface="Calibri"/>
              </a:rPr>
              <a:t>▸ </a:t>
            </a:r>
            <a:r>
              <a:rPr sz="1350" b="1">
                <a:solidFill>
                  <a:srgbClr val="F0E6D2"/>
                </a:solidFill>
                <a:latin typeface="Calibri"/>
              </a:rPr>
              <a:t>47 tests offline</a:t>
            </a:r>
            <a:r>
              <a:rPr sz="1250">
                <a:solidFill>
                  <a:srgbClr val="A09B8C"/>
                </a:solidFill>
                <a:latin typeface="Calibri"/>
              </a:rPr>
              <a:t>  —  modèles &amp; DB mockés, aucun conteneur</a:t>
            </a:r>
          </a:p>
        </p:txBody>
      </p:sp>
      <p:sp>
        <p:nvSpPr>
          <p:cNvPr id="8" name="Rounded Rectangle 7"/>
          <p:cNvSpPr/>
          <p:nvPr/>
        </p:nvSpPr>
        <p:spPr>
          <a:xfrm>
            <a:off x="6309360" y="1691640"/>
            <a:ext cx="5303520" cy="4389120"/>
          </a:xfrm>
          <a:prstGeom prst="roundRect">
            <a:avLst/>
          </a:prstGeom>
          <a:solidFill>
            <a:srgbClr val="060E1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74519"/>
            <a:ext cx="484632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onsolas"/>
              </a:rPr>
              <a:t>POST /predict/at/10</a:t>
            </a:r>
          </a:p>
        </p:txBody>
      </p:sp>
      <p:sp>
        <p:nvSpPr>
          <p:cNvPr id="10" name="TextBox 9"/>
          <p:cNvSpPr txBox="1"/>
          <p:nvPr/>
        </p:nvSpPr>
        <p:spPr>
          <a:xfrm>
            <a:off x="6583680" y="2331720"/>
            <a:ext cx="4846320" cy="3566160"/>
          </a:xfrm>
          <a:prstGeom prst="rect">
            <a:avLst/>
          </a:prstGeom>
          <a:noFill/>
        </p:spPr>
        <p:txBody>
          <a:bodyPr wrap="square">
            <a:spAutoFit/>
          </a:bodyPr>
          <a:lstStyle/>
          <a:p>
            <a:pPr>
              <a:spcAft>
                <a:spcPts val="300"/>
              </a:spcAft>
            </a:pPr>
            <a:r>
              <a:rPr sz="1250">
                <a:solidFill>
                  <a:srgbClr val="F0E6D2"/>
                </a:solidFill>
                <a:latin typeface="Consolas"/>
              </a:rPr>
              <a:t>{</a:t>
            </a:r>
          </a:p>
          <a:p>
            <a:pPr>
              <a:spcAft>
                <a:spcPts val="300"/>
              </a:spcAft>
            </a:pPr>
            <a:r>
              <a:rPr sz="1250">
                <a:solidFill>
                  <a:srgbClr val="3D9DF3"/>
                </a:solidFill>
                <a:latin typeface="Consolas"/>
              </a:rPr>
              <a:t>  "gold_diff": 2500,</a:t>
            </a:r>
          </a:p>
          <a:p>
            <a:pPr>
              <a:spcAft>
                <a:spcPts val="300"/>
              </a:spcAft>
            </a:pPr>
            <a:r>
              <a:rPr sz="1250">
                <a:solidFill>
                  <a:srgbClr val="3D9DF3"/>
                </a:solidFill>
                <a:latin typeface="Consolas"/>
              </a:rPr>
              <a:t>  "first_blood": true,</a:t>
            </a:r>
          </a:p>
          <a:p>
            <a:pPr>
              <a:spcAft>
                <a:spcPts val="300"/>
              </a:spcAft>
            </a:pPr>
            <a:r>
              <a:rPr sz="1250">
                <a:solidFill>
                  <a:srgbClr val="3D9DF3"/>
                </a:solidFill>
                <a:latin typeface="Consolas"/>
              </a:rPr>
              <a:t>  "first_dragon": true,</a:t>
            </a:r>
          </a:p>
          <a:p>
            <a:pPr>
              <a:spcAft>
                <a:spcPts val="300"/>
              </a:spcAft>
            </a:pPr>
            <a:r>
              <a:rPr sz="1250">
                <a:solidFill>
                  <a:srgbClr val="3D9DF3"/>
                </a:solidFill>
                <a:latin typeface="Consolas"/>
              </a:rPr>
              <a:t>  "mid_gold_diff": 400, ...</a:t>
            </a:r>
          </a:p>
          <a:p>
            <a:pPr>
              <a:spcAft>
                <a:spcPts val="300"/>
              </a:spcAft>
            </a:pPr>
            <a:r>
              <a:rPr sz="1250">
                <a:solidFill>
                  <a:srgbClr val="F0E6D2"/>
                </a:solidFill>
                <a:latin typeface="Consolas"/>
              </a:rPr>
              <a:t>}</a:t>
            </a:r>
          </a:p>
          <a:p>
            <a:pPr>
              <a:spcAft>
                <a:spcPts val="300"/>
              </a:spcAft>
            </a:pPr>
            <a:r>
              <a:rPr sz="1250">
                <a:solidFill>
                  <a:srgbClr val="F0E6D2"/>
                </a:solidFill>
                <a:latin typeface="Consolas"/>
              </a:rPr>
              <a:t> </a:t>
            </a:r>
          </a:p>
          <a:p>
            <a:pPr>
              <a:spcAft>
                <a:spcPts val="300"/>
              </a:spcAft>
            </a:pPr>
            <a:r>
              <a:rPr sz="1250">
                <a:solidFill>
                  <a:srgbClr val="A09B8C"/>
                </a:solidFill>
                <a:latin typeface="Consolas"/>
              </a:rPr>
              <a:t>→  réponse</a:t>
            </a:r>
          </a:p>
          <a:p>
            <a:pPr>
              <a:spcAft>
                <a:spcPts val="300"/>
              </a:spcAft>
            </a:pPr>
            <a:r>
              <a:rPr sz="1250">
                <a:solidFill>
                  <a:srgbClr val="F0E6D2"/>
                </a:solidFill>
                <a:latin typeface="Consolas"/>
              </a:rPr>
              <a:t>{</a:t>
            </a:r>
          </a:p>
          <a:p>
            <a:pPr>
              <a:spcAft>
                <a:spcPts val="300"/>
              </a:spcAft>
            </a:pPr>
            <a:r>
              <a:rPr sz="1250">
                <a:solidFill>
                  <a:srgbClr val="0AC8B9"/>
                </a:solidFill>
                <a:latin typeface="Consolas"/>
              </a:rPr>
              <a:t>  "blue_win_proba": 0.78,</a:t>
            </a:r>
          </a:p>
          <a:p>
            <a:pPr>
              <a:spcAft>
                <a:spcPts val="300"/>
              </a:spcAft>
            </a:pPr>
            <a:r>
              <a:rPr sz="1250">
                <a:solidFill>
                  <a:srgbClr val="0AC8B9"/>
                </a:solidFill>
                <a:latin typeface="Consolas"/>
              </a:rPr>
              <a:t>  "prediction": "blue",</a:t>
            </a:r>
          </a:p>
          <a:p>
            <a:pPr>
              <a:spcAft>
                <a:spcPts val="300"/>
              </a:spcAft>
            </a:pPr>
            <a:r>
              <a:rPr sz="1250">
                <a:solidFill>
                  <a:srgbClr val="C8AA6E"/>
                </a:solidFill>
                <a:latin typeface="Consolas"/>
              </a:rPr>
              <a:t>  "model": "at10"</a:t>
            </a:r>
          </a:p>
          <a:p>
            <a:pPr>
              <a:spcAft>
                <a:spcPts val="300"/>
              </a:spcAft>
            </a:pPr>
            <a:r>
              <a:rPr sz="1250">
                <a:solidFill>
                  <a:srgbClr val="F0E6D2"/>
                </a:solidFill>
                <a:latin typeface="Consolas"/>
              </a:rPr>
              <a:t>}</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6240" cy="685800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0" y="0"/>
            <a:ext cx="38100" cy="6858000"/>
          </a:xfrm>
          <a:prstGeom prst="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2918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a:solidFill>
                  <a:srgbClr val="3D9DF3"/>
                </a:solidFill>
                <a:latin typeface="Calibri"/>
              </a:rPr>
              <a:t>PHASE 2</a:t>
            </a:r>
          </a:p>
        </p:txBody>
      </p:sp>
      <p:sp>
        <p:nvSpPr>
          <p:cNvPr id="6" name="TextBox 5"/>
          <p:cNvSpPr txBox="1"/>
          <p:nvPr/>
        </p:nvSpPr>
        <p:spPr>
          <a:xfrm>
            <a:off x="548640" y="1783080"/>
            <a:ext cx="3383280" cy="1463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Suivi &amp;
Versioning</a:t>
            </a:r>
          </a:p>
        </p:txBody>
      </p:sp>
      <p:sp>
        <p:nvSpPr>
          <p:cNvPr id="7" name="Rounded Rectangle 6"/>
          <p:cNvSpPr/>
          <p:nvPr/>
        </p:nvSpPr>
        <p:spPr>
          <a:xfrm>
            <a:off x="548640" y="3657600"/>
            <a:ext cx="2468880" cy="384048"/>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2468880" cy="384048"/>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300" b="1">
                <a:solidFill>
                  <a:srgbClr val="3D9DF3"/>
                </a:solidFill>
                <a:latin typeface="Calibri"/>
              </a:rPr>
              <a:t>Échéance · 27 avril</a:t>
            </a:r>
          </a:p>
        </p:txBody>
      </p:sp>
      <p:sp>
        <p:nvSpPr>
          <p:cNvPr id="9" name="TextBox 8"/>
          <p:cNvSpPr txBox="1"/>
          <p:nvPr/>
        </p:nvSpPr>
        <p:spPr>
          <a:xfrm>
            <a:off x="4663440" y="1143000"/>
            <a:ext cx="69494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a:solidFill>
                  <a:srgbClr val="3D9DF3"/>
                </a:solidFill>
                <a:latin typeface="Calibri"/>
              </a:rPr>
              <a:t>OBJECTIFS DE LA PHASE</a:t>
            </a:r>
          </a:p>
        </p:txBody>
      </p:sp>
      <p:sp>
        <p:nvSpPr>
          <p:cNvPr id="10" name="TextBox 9"/>
          <p:cNvSpPr txBox="1"/>
          <p:nvPr/>
        </p:nvSpPr>
        <p:spPr>
          <a:xfrm>
            <a:off x="4663440" y="1783080"/>
            <a:ext cx="6858000" cy="4572000"/>
          </a:xfrm>
          <a:prstGeom prst="rect">
            <a:avLst/>
          </a:prstGeom>
          <a:noFill/>
        </p:spPr>
        <p:txBody>
          <a:bodyPr wrap="square">
            <a:spAutoFit/>
          </a:bodyPr>
          <a:lstStyle/>
          <a:p>
            <a:pPr>
              <a:lnSpc>
                <a:spcPct val="105000"/>
              </a:lnSpc>
              <a:spcBef>
                <a:spcPts val="0"/>
              </a:spcBef>
              <a:spcAft>
                <a:spcPts val="1500"/>
              </a:spcAft>
            </a:pPr>
            <a:r>
              <a:rPr sz="1600" b="1">
                <a:solidFill>
                  <a:srgbClr val="3D9DF3"/>
                </a:solidFill>
                <a:latin typeface="Calibri"/>
              </a:rPr>
              <a:t>▸ </a:t>
            </a:r>
            <a:r>
              <a:rPr sz="1600" b="1">
                <a:solidFill>
                  <a:srgbClr val="F0E6D2"/>
                </a:solidFill>
                <a:latin typeface="Calibri"/>
              </a:rPr>
              <a:t>Tracking des expériences (MLflow)</a:t>
            </a:r>
            <a:r>
              <a:rPr sz="1500">
                <a:solidFill>
                  <a:srgbClr val="A09B8C"/>
                </a:solidFill>
                <a:latin typeface="Calibri"/>
              </a:rPr>
              <a:t>  —  params, métriques, artefacts par run</a:t>
            </a:r>
          </a:p>
          <a:p>
            <a:pPr>
              <a:lnSpc>
                <a:spcPct val="105000"/>
              </a:lnSpc>
              <a:spcBef>
                <a:spcPts val="0"/>
              </a:spcBef>
              <a:spcAft>
                <a:spcPts val="1500"/>
              </a:spcAft>
            </a:pPr>
            <a:r>
              <a:rPr sz="1600" b="1">
                <a:solidFill>
                  <a:srgbClr val="3D9DF3"/>
                </a:solidFill>
                <a:latin typeface="Calibri"/>
              </a:rPr>
              <a:t>▸ </a:t>
            </a:r>
            <a:r>
              <a:rPr sz="1600" b="1">
                <a:solidFill>
                  <a:srgbClr val="F0E6D2"/>
                </a:solidFill>
                <a:latin typeface="Calibri"/>
              </a:rPr>
              <a:t>Model Registry</a:t>
            </a:r>
            <a:r>
              <a:rPr sz="1500">
                <a:solidFill>
                  <a:srgbClr val="A09B8C"/>
                </a:solidFill>
                <a:latin typeface="Calibri"/>
              </a:rPr>
              <a:t>  —  versions lol_draft_at{5,10,15,20}</a:t>
            </a:r>
          </a:p>
          <a:p>
            <a:pPr>
              <a:lnSpc>
                <a:spcPct val="105000"/>
              </a:lnSpc>
              <a:spcBef>
                <a:spcPts val="0"/>
              </a:spcBef>
              <a:spcAft>
                <a:spcPts val="1500"/>
              </a:spcAft>
            </a:pPr>
            <a:r>
              <a:rPr sz="1600" b="1">
                <a:solidFill>
                  <a:srgbClr val="3D9DF3"/>
                </a:solidFill>
                <a:latin typeface="Calibri"/>
              </a:rPr>
              <a:t>▸ </a:t>
            </a:r>
            <a:r>
              <a:rPr sz="1600" b="1">
                <a:solidFill>
                  <a:srgbClr val="F0E6D2"/>
                </a:solidFill>
                <a:latin typeface="Calibri"/>
              </a:rPr>
              <a:t>Versioning données &amp; pipeline (DVC)</a:t>
            </a:r>
            <a:r>
              <a:rPr sz="1500">
                <a:solidFill>
                  <a:srgbClr val="A09B8C"/>
                </a:solidFill>
                <a:latin typeface="Calibri"/>
              </a:rPr>
              <a:t>  —  dump tracké, stages reproductibles</a:t>
            </a:r>
          </a:p>
          <a:p>
            <a:pPr>
              <a:lnSpc>
                <a:spcPct val="105000"/>
              </a:lnSpc>
              <a:spcBef>
                <a:spcPts val="0"/>
              </a:spcBef>
              <a:spcAft>
                <a:spcPts val="1500"/>
              </a:spcAft>
            </a:pPr>
            <a:r>
              <a:rPr sz="1600" b="1">
                <a:solidFill>
                  <a:srgbClr val="3D9DF3"/>
                </a:solidFill>
                <a:latin typeface="Calibri"/>
              </a:rPr>
              <a:t>▸ </a:t>
            </a:r>
            <a:r>
              <a:rPr sz="1600" b="1">
                <a:solidFill>
                  <a:srgbClr val="F0E6D2"/>
                </a:solidFill>
                <a:latin typeface="Calibri"/>
              </a:rPr>
              <a:t>Wrapper fail-safe (NO-OP, fast-fail)</a:t>
            </a:r>
            <a:r>
              <a:rPr sz="1500">
                <a:solidFill>
                  <a:srgbClr val="A09B8C"/>
                </a:solidFill>
                <a:latin typeface="Calibri"/>
              </a:rPr>
              <a:t>  —  tests &amp; inférence intacts si MLflow absent</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3D9DF3"/>
                </a:solidFill>
                <a:latin typeface="Calibri"/>
              </a:rPr>
              <a:t>PHASE 2 · TRAÇABILITÉ</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MLflow, Registry &amp; versioning</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4937760" cy="4023360"/>
          </a:xfrm>
          <a:prstGeom prst="rect">
            <a:avLst/>
          </a:prstGeom>
          <a:noFill/>
        </p:spPr>
        <p:txBody>
          <a:bodyPr wrap="square">
            <a:spAutoFit/>
          </a:bodyPr>
          <a:lstStyle/>
          <a:p>
            <a:pPr>
              <a:lnSpc>
                <a:spcPct val="105000"/>
              </a:lnSpc>
              <a:spcBef>
                <a:spcPts val="0"/>
              </a:spcBef>
              <a:spcAft>
                <a:spcPts val="1200"/>
              </a:spcAft>
            </a:pPr>
            <a:r>
              <a:rPr sz="1350" b="1">
                <a:solidFill>
                  <a:srgbClr val="3D9DF3"/>
                </a:solidFill>
                <a:latin typeface="Calibri"/>
              </a:rPr>
              <a:t>▸ </a:t>
            </a:r>
            <a:r>
              <a:rPr sz="1350" b="1">
                <a:solidFill>
                  <a:srgbClr val="F0E6D2"/>
                </a:solidFill>
                <a:latin typeface="Calibri"/>
              </a:rPr>
              <a:t>Tracking server adossé à Postgres</a:t>
            </a:r>
            <a:r>
              <a:rPr sz="1250">
                <a:solidFill>
                  <a:srgbClr val="A09B8C"/>
                </a:solidFill>
                <a:latin typeface="Calibri"/>
              </a:rPr>
              <a:t>  —  métadonnées persistées (port 5001)</a:t>
            </a:r>
          </a:p>
          <a:p>
            <a:pPr>
              <a:lnSpc>
                <a:spcPct val="105000"/>
              </a:lnSpc>
              <a:spcBef>
                <a:spcPts val="0"/>
              </a:spcBef>
              <a:spcAft>
                <a:spcPts val="1200"/>
              </a:spcAft>
            </a:pPr>
            <a:r>
              <a:rPr sz="1350" b="1">
                <a:solidFill>
                  <a:srgbClr val="3D9DF3"/>
                </a:solidFill>
                <a:latin typeface="Calibri"/>
              </a:rPr>
              <a:t>▸ </a:t>
            </a:r>
            <a:r>
              <a:rPr sz="1350" b="1">
                <a:solidFill>
                  <a:srgbClr val="F0E6D2"/>
                </a:solidFill>
                <a:latin typeface="Calibri"/>
              </a:rPr>
              <a:t>1 entraînement = 1 run</a:t>
            </a:r>
            <a:r>
              <a:rPr sz="1250">
                <a:solidFill>
                  <a:srgbClr val="A09B8C"/>
                </a:solidFill>
                <a:latin typeface="Calibri"/>
              </a:rPr>
              <a:t>  —  params + métriques + artefact modèle</a:t>
            </a:r>
          </a:p>
          <a:p>
            <a:pPr>
              <a:lnSpc>
                <a:spcPct val="105000"/>
              </a:lnSpc>
              <a:spcBef>
                <a:spcPts val="0"/>
              </a:spcBef>
              <a:spcAft>
                <a:spcPts val="1200"/>
              </a:spcAft>
            </a:pPr>
            <a:r>
              <a:rPr sz="1350" b="1">
                <a:solidFill>
                  <a:srgbClr val="3D9DF3"/>
                </a:solidFill>
                <a:latin typeface="Calibri"/>
              </a:rPr>
              <a:t>▸ </a:t>
            </a:r>
            <a:r>
              <a:rPr sz="1350" b="1">
                <a:solidFill>
                  <a:srgbClr val="F0E6D2"/>
                </a:solidFill>
                <a:latin typeface="Calibri"/>
              </a:rPr>
              <a:t>Model Registry</a:t>
            </a:r>
            <a:r>
              <a:rPr sz="1250">
                <a:solidFill>
                  <a:srgbClr val="A09B8C"/>
                </a:solidFill>
                <a:latin typeface="Calibri"/>
              </a:rPr>
              <a:t>  —  lol_draft_at{5,10,15,20}, stages manuels</a:t>
            </a:r>
          </a:p>
          <a:p>
            <a:pPr>
              <a:lnSpc>
                <a:spcPct val="105000"/>
              </a:lnSpc>
              <a:spcBef>
                <a:spcPts val="0"/>
              </a:spcBef>
              <a:spcAft>
                <a:spcPts val="1200"/>
              </a:spcAft>
            </a:pPr>
            <a:r>
              <a:rPr sz="1350" b="1">
                <a:solidFill>
                  <a:srgbClr val="3D9DF3"/>
                </a:solidFill>
                <a:latin typeface="Calibri"/>
              </a:rPr>
              <a:t>▸ </a:t>
            </a:r>
            <a:r>
              <a:rPr sz="1350" b="1">
                <a:solidFill>
                  <a:srgbClr val="F0E6D2"/>
                </a:solidFill>
                <a:latin typeface="Calibri"/>
              </a:rPr>
              <a:t>DVC : données + pipeline</a:t>
            </a:r>
            <a:r>
              <a:rPr sz="1250">
                <a:solidFill>
                  <a:srgbClr val="A09B8C"/>
                </a:solidFill>
                <a:latin typeface="Calibri"/>
              </a:rPr>
              <a:t>  —  dump tracké, stages dans dvc.yaml</a:t>
            </a:r>
          </a:p>
          <a:p>
            <a:pPr>
              <a:lnSpc>
                <a:spcPct val="105000"/>
              </a:lnSpc>
              <a:spcBef>
                <a:spcPts val="0"/>
              </a:spcBef>
              <a:spcAft>
                <a:spcPts val="1200"/>
              </a:spcAft>
            </a:pPr>
            <a:r>
              <a:rPr sz="1350" b="1">
                <a:solidFill>
                  <a:srgbClr val="3D9DF3"/>
                </a:solidFill>
                <a:latin typeface="Calibri"/>
              </a:rPr>
              <a:t>▸ </a:t>
            </a:r>
            <a:r>
              <a:rPr sz="1350" b="1">
                <a:solidFill>
                  <a:srgbClr val="F0E6D2"/>
                </a:solidFill>
                <a:latin typeface="Calibri"/>
              </a:rPr>
              <a:t>Wrapper fail-safe testé</a:t>
            </a:r>
            <a:r>
              <a:rPr sz="1250">
                <a:solidFill>
                  <a:srgbClr val="A09B8C"/>
                </a:solidFill>
                <a:latin typeface="Calibri"/>
              </a:rPr>
              <a:t>  —  11 tests, NO-OP + fast-fail si serveur down</a:t>
            </a:r>
          </a:p>
        </p:txBody>
      </p:sp>
      <p:sp>
        <p:nvSpPr>
          <p:cNvPr id="8" name="Rounded Rectangle 7"/>
          <p:cNvSpPr/>
          <p:nvPr/>
        </p:nvSpPr>
        <p:spPr>
          <a:xfrm>
            <a:off x="6309360" y="1691640"/>
            <a:ext cx="530352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874519"/>
            <a:ext cx="47548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C8AA6E"/>
                </a:solidFill>
                <a:latin typeface="Calibri"/>
              </a:rPr>
              <a:t>CYCLE DE VIE D'UN MODÈLE</a:t>
            </a:r>
          </a:p>
        </p:txBody>
      </p:sp>
      <p:sp>
        <p:nvSpPr>
          <p:cNvPr id="10" name="Rounded Rectangle 9"/>
          <p:cNvSpPr/>
          <p:nvPr/>
        </p:nvSpPr>
        <p:spPr>
          <a:xfrm>
            <a:off x="6583680" y="2331720"/>
            <a:ext cx="4754880" cy="566928"/>
          </a:xfrm>
          <a:prstGeom prst="roundRect">
            <a:avLst/>
          </a:prstGeom>
          <a:solidFill>
            <a:srgbClr val="10203C"/>
          </a:solidFill>
          <a:ln w="1270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2459736"/>
            <a:ext cx="237744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C8AA6E"/>
                </a:solidFill>
                <a:latin typeface="Calibri"/>
              </a:rPr>
              <a:t>1. Entraînement</a:t>
            </a:r>
          </a:p>
        </p:txBody>
      </p:sp>
      <p:sp>
        <p:nvSpPr>
          <p:cNvPr id="12" name="TextBox 11"/>
          <p:cNvSpPr txBox="1"/>
          <p:nvPr/>
        </p:nvSpPr>
        <p:spPr>
          <a:xfrm>
            <a:off x="8961120" y="2478024"/>
            <a:ext cx="228600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00" b="0">
                <a:solidFill>
                  <a:srgbClr val="A09B8C"/>
                </a:solidFill>
                <a:latin typeface="Calibri"/>
              </a:rPr>
              <a:t>run MLflow loggé</a:t>
            </a:r>
          </a:p>
        </p:txBody>
      </p:sp>
      <p:sp>
        <p:nvSpPr>
          <p:cNvPr id="13" name="Rounded Rectangle 12"/>
          <p:cNvSpPr/>
          <p:nvPr/>
        </p:nvSpPr>
        <p:spPr>
          <a:xfrm>
            <a:off x="6583680" y="3044952"/>
            <a:ext cx="4754880" cy="566928"/>
          </a:xfrm>
          <a:prstGeom prst="roundRect">
            <a:avLst/>
          </a:prstGeom>
          <a:solidFill>
            <a:srgbClr val="10203C"/>
          </a:solidFill>
          <a:ln w="12700">
            <a:solidFill>
              <a:srgbClr val="F0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0" y="3172968"/>
            <a:ext cx="237744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F0E6D2"/>
                </a:solidFill>
                <a:latin typeface="Calibri"/>
              </a:rPr>
              <a:t>2. Évaluation</a:t>
            </a:r>
          </a:p>
        </p:txBody>
      </p:sp>
      <p:sp>
        <p:nvSpPr>
          <p:cNvPr id="15" name="TextBox 14"/>
          <p:cNvSpPr txBox="1"/>
          <p:nvPr/>
        </p:nvSpPr>
        <p:spPr>
          <a:xfrm>
            <a:off x="8961120" y="3191256"/>
            <a:ext cx="228600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00" b="0">
                <a:solidFill>
                  <a:srgbClr val="A09B8C"/>
                </a:solidFill>
                <a:latin typeface="Calibri"/>
              </a:rPr>
              <a:t>comparaison des métriques</a:t>
            </a:r>
          </a:p>
        </p:txBody>
      </p:sp>
      <p:sp>
        <p:nvSpPr>
          <p:cNvPr id="16" name="Rounded Rectangle 15"/>
          <p:cNvSpPr/>
          <p:nvPr/>
        </p:nvSpPr>
        <p:spPr>
          <a:xfrm>
            <a:off x="6583680" y="3758183"/>
            <a:ext cx="4754880" cy="566928"/>
          </a:xfrm>
          <a:prstGeom prst="roundRect">
            <a:avLst/>
          </a:prstGeom>
          <a:solidFill>
            <a:srgbClr val="10203C"/>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3886199"/>
            <a:ext cx="237744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3D9DF3"/>
                </a:solidFill>
                <a:latin typeface="Calibri"/>
              </a:rPr>
              <a:t>3. Enregistrement</a:t>
            </a:r>
          </a:p>
        </p:txBody>
      </p:sp>
      <p:sp>
        <p:nvSpPr>
          <p:cNvPr id="18" name="TextBox 17"/>
          <p:cNvSpPr txBox="1"/>
          <p:nvPr/>
        </p:nvSpPr>
        <p:spPr>
          <a:xfrm>
            <a:off x="8961120" y="3904487"/>
            <a:ext cx="228600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00" b="0">
                <a:solidFill>
                  <a:srgbClr val="A09B8C"/>
                </a:solidFill>
                <a:latin typeface="Calibri"/>
              </a:rPr>
              <a:t>Model Registry (versionné)</a:t>
            </a:r>
          </a:p>
        </p:txBody>
      </p:sp>
      <p:sp>
        <p:nvSpPr>
          <p:cNvPr id="19" name="Rounded Rectangle 18"/>
          <p:cNvSpPr/>
          <p:nvPr/>
        </p:nvSpPr>
        <p:spPr>
          <a:xfrm>
            <a:off x="6583680" y="4471416"/>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66560" y="4599432"/>
            <a:ext cx="237744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4. Promotion</a:t>
            </a:r>
          </a:p>
        </p:txBody>
      </p:sp>
      <p:sp>
        <p:nvSpPr>
          <p:cNvPr id="21" name="TextBox 20"/>
          <p:cNvSpPr txBox="1"/>
          <p:nvPr/>
        </p:nvSpPr>
        <p:spPr>
          <a:xfrm>
            <a:off x="8961120" y="4617720"/>
            <a:ext cx="228600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00" b="0">
                <a:solidFill>
                  <a:srgbClr val="A09B8C"/>
                </a:solidFill>
                <a:latin typeface="Calibri"/>
              </a:rPr>
              <a:t>stage Staging → Production</a:t>
            </a:r>
          </a:p>
        </p:txBody>
      </p:sp>
      <p:sp>
        <p:nvSpPr>
          <p:cNvPr id="22" name="Rounded Rectangle 21"/>
          <p:cNvSpPr/>
          <p:nvPr/>
        </p:nvSpPr>
        <p:spPr>
          <a:xfrm>
            <a:off x="6583680" y="5184648"/>
            <a:ext cx="4754880" cy="566928"/>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0" y="5312664"/>
            <a:ext cx="237744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0AC8B9"/>
                </a:solidFill>
                <a:latin typeface="Calibri"/>
              </a:rPr>
              <a:t>5. Service</a:t>
            </a:r>
          </a:p>
        </p:txBody>
      </p:sp>
      <p:sp>
        <p:nvSpPr>
          <p:cNvPr id="24" name="TextBox 23"/>
          <p:cNvSpPr txBox="1"/>
          <p:nvPr/>
        </p:nvSpPr>
        <p:spPr>
          <a:xfrm>
            <a:off x="8961120" y="5330952"/>
            <a:ext cx="2286000" cy="310896"/>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000" b="0">
                <a:solidFill>
                  <a:srgbClr val="A09B8C"/>
                </a:solidFill>
                <a:latin typeface="Calibri"/>
              </a:rPr>
              <a:t>l'API charge la version voulue</a:t>
            </a:r>
          </a:p>
        </p:txBody>
      </p:sp>
      <p:sp>
        <p:nvSpPr>
          <p:cNvPr id="25" name="TextBox 24"/>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6" name="TextBox 25"/>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6240" cy="685800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0" y="0"/>
            <a:ext cx="38100"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2918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a:solidFill>
                  <a:srgbClr val="C8AA6E"/>
                </a:solidFill>
                <a:latin typeface="Calibri"/>
              </a:rPr>
              <a:t>PHASE 3</a:t>
            </a:r>
          </a:p>
        </p:txBody>
      </p:sp>
      <p:sp>
        <p:nvSpPr>
          <p:cNvPr id="6" name="TextBox 5"/>
          <p:cNvSpPr txBox="1"/>
          <p:nvPr/>
        </p:nvSpPr>
        <p:spPr>
          <a:xfrm>
            <a:off x="548640" y="1783080"/>
            <a:ext cx="3383280" cy="1463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Orchestration &amp;
Déploiement</a:t>
            </a:r>
          </a:p>
        </p:txBody>
      </p:sp>
      <p:sp>
        <p:nvSpPr>
          <p:cNvPr id="7" name="Rounded Rectangle 6"/>
          <p:cNvSpPr/>
          <p:nvPr/>
        </p:nvSpPr>
        <p:spPr>
          <a:xfrm>
            <a:off x="548640" y="3657600"/>
            <a:ext cx="2468880" cy="384048"/>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2468880" cy="384048"/>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300" b="1">
                <a:solidFill>
                  <a:srgbClr val="C8AA6E"/>
                </a:solidFill>
                <a:latin typeface="Calibri"/>
              </a:rPr>
              <a:t>Échéance · 30 mai</a:t>
            </a:r>
          </a:p>
        </p:txBody>
      </p:sp>
      <p:sp>
        <p:nvSpPr>
          <p:cNvPr id="9" name="TextBox 8"/>
          <p:cNvSpPr txBox="1"/>
          <p:nvPr/>
        </p:nvSpPr>
        <p:spPr>
          <a:xfrm>
            <a:off x="4663440" y="1143000"/>
            <a:ext cx="69494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a:solidFill>
                  <a:srgbClr val="C8AA6E"/>
                </a:solidFill>
                <a:latin typeface="Calibri"/>
              </a:rPr>
              <a:t>OBJECTIFS DE LA PHASE</a:t>
            </a:r>
          </a:p>
        </p:txBody>
      </p:sp>
      <p:sp>
        <p:nvSpPr>
          <p:cNvPr id="10" name="TextBox 9"/>
          <p:cNvSpPr txBox="1"/>
          <p:nvPr/>
        </p:nvSpPr>
        <p:spPr>
          <a:xfrm>
            <a:off x="4663440" y="1783080"/>
            <a:ext cx="6858000" cy="4572000"/>
          </a:xfrm>
          <a:prstGeom prst="rect">
            <a:avLst/>
          </a:prstGeom>
          <a:noFill/>
        </p:spPr>
        <p:txBody>
          <a:bodyPr wrap="square">
            <a:spAutoFit/>
          </a:bodyPr>
          <a:lstStyle/>
          <a:p>
            <a:pPr>
              <a:lnSpc>
                <a:spcPct val="105000"/>
              </a:lnSpc>
              <a:spcBef>
                <a:spcPts val="0"/>
              </a:spcBef>
              <a:spcAft>
                <a:spcPts val="1500"/>
              </a:spcAft>
            </a:pPr>
            <a:r>
              <a:rPr sz="1600" b="1">
                <a:solidFill>
                  <a:srgbClr val="C8AA6E"/>
                </a:solidFill>
                <a:latin typeface="Calibri"/>
              </a:rPr>
              <a:t>▸ </a:t>
            </a:r>
            <a:r>
              <a:rPr sz="1600" b="1">
                <a:solidFill>
                  <a:srgbClr val="F0E6D2"/>
                </a:solidFill>
                <a:latin typeface="Calibri"/>
              </a:rPr>
              <a:t>CI GitHub Actions</a:t>
            </a:r>
            <a:r>
              <a:rPr sz="1500">
                <a:solidFill>
                  <a:srgbClr val="A09B8C"/>
                </a:solidFill>
                <a:latin typeface="Calibri"/>
              </a:rPr>
              <a:t>  —  lint · test · build à chaque push/PR</a:t>
            </a:r>
          </a:p>
          <a:p>
            <a:pPr>
              <a:lnSpc>
                <a:spcPct val="105000"/>
              </a:lnSpc>
              <a:spcBef>
                <a:spcPts val="0"/>
              </a:spcBef>
              <a:spcAft>
                <a:spcPts val="1500"/>
              </a:spcAft>
            </a:pPr>
            <a:r>
              <a:rPr sz="1600" b="1">
                <a:solidFill>
                  <a:srgbClr val="C8AA6E"/>
                </a:solidFill>
                <a:latin typeface="Calibri"/>
              </a:rPr>
              <a:t>▸ </a:t>
            </a:r>
            <a:r>
              <a:rPr sz="1600" b="1">
                <a:solidFill>
                  <a:srgbClr val="F0E6D2"/>
                </a:solidFill>
                <a:latin typeface="Calibri"/>
              </a:rPr>
              <a:t>Orchestration e2e (Makefile)</a:t>
            </a:r>
            <a:r>
              <a:rPr sz="1500">
                <a:solidFill>
                  <a:srgbClr val="A09B8C"/>
                </a:solidFill>
                <a:latin typeface="Calibri"/>
              </a:rPr>
              <a:t>  —  une cible par étape du pipeline</a:t>
            </a:r>
          </a:p>
          <a:p>
            <a:pPr>
              <a:lnSpc>
                <a:spcPct val="105000"/>
              </a:lnSpc>
              <a:spcBef>
                <a:spcPts val="0"/>
              </a:spcBef>
              <a:spcAft>
                <a:spcPts val="1500"/>
              </a:spcAft>
            </a:pPr>
            <a:r>
              <a:rPr sz="1600" b="1">
                <a:solidFill>
                  <a:srgbClr val="C8AA6E"/>
                </a:solidFill>
                <a:latin typeface="Calibri"/>
              </a:rPr>
              <a:t>▸ </a:t>
            </a:r>
            <a:r>
              <a:rPr sz="1600" b="1">
                <a:solidFill>
                  <a:srgbClr val="F0E6D2"/>
                </a:solidFill>
                <a:latin typeface="Calibri"/>
              </a:rPr>
              <a:t>Conteneurisation complète</a:t>
            </a:r>
            <a:r>
              <a:rPr sz="1500">
                <a:solidFill>
                  <a:srgbClr val="A09B8C"/>
                </a:solidFill>
                <a:latin typeface="Calibri"/>
              </a:rPr>
              <a:t>  —  6 services Docker Compose</a:t>
            </a:r>
          </a:p>
          <a:p>
            <a:pPr>
              <a:lnSpc>
                <a:spcPct val="105000"/>
              </a:lnSpc>
              <a:spcBef>
                <a:spcPts val="0"/>
              </a:spcBef>
              <a:spcAft>
                <a:spcPts val="1500"/>
              </a:spcAft>
            </a:pPr>
            <a:r>
              <a:rPr sz="1600" b="1">
                <a:solidFill>
                  <a:srgbClr val="C8AA6E"/>
                </a:solidFill>
                <a:latin typeface="Calibri"/>
              </a:rPr>
              <a:t>▸ </a:t>
            </a:r>
            <a:r>
              <a:rPr sz="1600" b="1">
                <a:solidFill>
                  <a:srgbClr val="F0E6D2"/>
                </a:solidFill>
                <a:latin typeface="Calibri"/>
              </a:rPr>
              <a:t>Manifests Kubernetes (kustomize)</a:t>
            </a:r>
            <a:r>
              <a:rPr sz="1500">
                <a:solidFill>
                  <a:srgbClr val="A09B8C"/>
                </a:solidFill>
                <a:latin typeface="Calibri"/>
              </a:rPr>
              <a:t>  —  ~32 ressources, validées kubeconform</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PHASE 3 · AUTOMATISATION</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CI GitHub Actions &amp; Makefile</a:t>
            </a:r>
          </a:p>
        </p:txBody>
      </p:sp>
      <p:sp>
        <p:nvSpPr>
          <p:cNvPr id="6" name="Rounded Rectangle 5"/>
          <p:cNvSpPr/>
          <p:nvPr/>
        </p:nvSpPr>
        <p:spPr>
          <a:xfrm>
            <a:off x="548640" y="1783080"/>
            <a:ext cx="3611880" cy="2468880"/>
          </a:xfrm>
          <a:prstGeom prst="roundRect">
            <a:avLst/>
          </a:prstGeom>
          <a:solidFill>
            <a:srgbClr val="10203C"/>
          </a:solidFill>
          <a:ln w="15240">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783080"/>
            <a:ext cx="3611880" cy="530352"/>
          </a:xfrm>
          <a:prstGeom prst="roundRect">
            <a:avLst/>
          </a:prstGeom>
          <a:solidFill>
            <a:srgbClr val="4CC9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74520"/>
            <a:ext cx="3611880" cy="384048"/>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500" b="1">
                <a:solidFill>
                  <a:srgbClr val="0A1428"/>
                </a:solidFill>
                <a:latin typeface="Calibri"/>
              </a:rPr>
              <a:t>1 · LINT</a:t>
            </a:r>
          </a:p>
        </p:txBody>
      </p:sp>
      <p:sp>
        <p:nvSpPr>
          <p:cNvPr id="9" name="TextBox 8"/>
          <p:cNvSpPr txBox="1"/>
          <p:nvPr/>
        </p:nvSpPr>
        <p:spPr>
          <a:xfrm>
            <a:off x="822960" y="2496312"/>
            <a:ext cx="3154680" cy="1280160"/>
          </a:xfrm>
          <a:prstGeom prst="rect">
            <a:avLst/>
          </a:prstGeom>
          <a:noFill/>
        </p:spPr>
        <p:txBody>
          <a:bodyPr wrap="square">
            <a:spAutoFit/>
          </a:bodyPr>
          <a:lstStyle/>
          <a:p>
            <a:pPr>
              <a:lnSpc>
                <a:spcPct val="105000"/>
              </a:lnSpc>
              <a:spcBef>
                <a:spcPts val="0"/>
              </a:spcBef>
              <a:spcAft>
                <a:spcPts val="900"/>
              </a:spcAft>
            </a:pPr>
            <a:r>
              <a:rPr sz="1300" b="1">
                <a:solidFill>
                  <a:srgbClr val="4CC97E"/>
                </a:solidFill>
                <a:latin typeface="Calibri"/>
              </a:rPr>
              <a:t>✓ </a:t>
            </a:r>
            <a:r>
              <a:rPr sz="1300" b="1">
                <a:solidFill>
                  <a:srgbClr val="F0E6D2"/>
                </a:solidFill>
                <a:latin typeface="Calibri"/>
              </a:rPr>
              <a:t>ruff check .</a:t>
            </a:r>
          </a:p>
          <a:p>
            <a:pPr>
              <a:lnSpc>
                <a:spcPct val="105000"/>
              </a:lnSpc>
              <a:spcBef>
                <a:spcPts val="0"/>
              </a:spcBef>
              <a:spcAft>
                <a:spcPts val="900"/>
              </a:spcAft>
            </a:pPr>
            <a:r>
              <a:rPr sz="1300" b="1">
                <a:solidFill>
                  <a:srgbClr val="4CC97E"/>
                </a:solidFill>
                <a:latin typeface="Calibri"/>
              </a:rPr>
              <a:t>✓ </a:t>
            </a:r>
            <a:r>
              <a:rPr sz="1300" b="1">
                <a:solidFill>
                  <a:srgbClr val="F0E6D2"/>
                </a:solidFill>
                <a:latin typeface="Calibri"/>
              </a:rPr>
              <a:t>--exit-zero</a:t>
            </a:r>
          </a:p>
          <a:p>
            <a:pPr>
              <a:lnSpc>
                <a:spcPct val="105000"/>
              </a:lnSpc>
              <a:spcBef>
                <a:spcPts val="0"/>
              </a:spcBef>
              <a:spcAft>
                <a:spcPts val="900"/>
              </a:spcAft>
            </a:pPr>
            <a:r>
              <a:rPr sz="1300" b="1">
                <a:solidFill>
                  <a:srgbClr val="4CC97E"/>
                </a:solidFill>
                <a:latin typeface="Calibri"/>
              </a:rPr>
              <a:t>✓ </a:t>
            </a:r>
            <a:r>
              <a:rPr sz="1300" b="1">
                <a:solidFill>
                  <a:srgbClr val="F0E6D2"/>
                </a:solidFill>
                <a:latin typeface="Calibri"/>
              </a:rPr>
              <a:t>(non-bloquant)</a:t>
            </a:r>
          </a:p>
        </p:txBody>
      </p:sp>
      <p:sp>
        <p:nvSpPr>
          <p:cNvPr id="10" name="TextBox 9"/>
          <p:cNvSpPr txBox="1"/>
          <p:nvPr/>
        </p:nvSpPr>
        <p:spPr>
          <a:xfrm>
            <a:off x="822960" y="3840480"/>
            <a:ext cx="31546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100" b="1">
                <a:solidFill>
                  <a:srgbClr val="A09B8C"/>
                </a:solidFill>
                <a:latin typeface="Calibri"/>
              </a:rPr>
              <a:t>Qualité du code</a:t>
            </a:r>
          </a:p>
        </p:txBody>
      </p:sp>
      <p:sp>
        <p:nvSpPr>
          <p:cNvPr id="11" name="TextBox 10"/>
          <p:cNvSpPr txBox="1"/>
          <p:nvPr/>
        </p:nvSpPr>
        <p:spPr>
          <a:xfrm>
            <a:off x="4142232" y="2697480"/>
            <a:ext cx="274320"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2000" b="0">
                <a:solidFill>
                  <a:srgbClr val="C8AA6E"/>
                </a:solidFill>
                <a:latin typeface="Calibri"/>
              </a:rPr>
              <a:t>→</a:t>
            </a:r>
          </a:p>
        </p:txBody>
      </p:sp>
      <p:sp>
        <p:nvSpPr>
          <p:cNvPr id="12" name="Rounded Rectangle 11"/>
          <p:cNvSpPr/>
          <p:nvPr/>
        </p:nvSpPr>
        <p:spPr>
          <a:xfrm>
            <a:off x="4279392" y="1783080"/>
            <a:ext cx="3611880" cy="2468880"/>
          </a:xfrm>
          <a:prstGeom prst="roundRect">
            <a:avLst/>
          </a:prstGeom>
          <a:solidFill>
            <a:srgbClr val="10203C"/>
          </a:solidFill>
          <a:ln w="1524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79392" y="1783080"/>
            <a:ext cx="3611880" cy="530352"/>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79392" y="1874520"/>
            <a:ext cx="3611880" cy="384048"/>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500" b="1">
                <a:solidFill>
                  <a:srgbClr val="0A1428"/>
                </a:solidFill>
                <a:latin typeface="Calibri"/>
              </a:rPr>
              <a:t>2 · TEST</a:t>
            </a:r>
          </a:p>
        </p:txBody>
      </p:sp>
      <p:sp>
        <p:nvSpPr>
          <p:cNvPr id="15" name="TextBox 14"/>
          <p:cNvSpPr txBox="1"/>
          <p:nvPr/>
        </p:nvSpPr>
        <p:spPr>
          <a:xfrm>
            <a:off x="4553712" y="2496312"/>
            <a:ext cx="3154680" cy="1280160"/>
          </a:xfrm>
          <a:prstGeom prst="rect">
            <a:avLst/>
          </a:prstGeom>
          <a:noFill/>
        </p:spPr>
        <p:txBody>
          <a:bodyPr wrap="square">
            <a:spAutoFit/>
          </a:bodyPr>
          <a:lstStyle/>
          <a:p>
            <a:pPr>
              <a:lnSpc>
                <a:spcPct val="105000"/>
              </a:lnSpc>
              <a:spcBef>
                <a:spcPts val="0"/>
              </a:spcBef>
              <a:spcAft>
                <a:spcPts val="900"/>
              </a:spcAft>
            </a:pPr>
            <a:r>
              <a:rPr sz="1300" b="1">
                <a:solidFill>
                  <a:srgbClr val="0AC8B9"/>
                </a:solidFill>
                <a:latin typeface="Calibri"/>
              </a:rPr>
              <a:t>✓ </a:t>
            </a:r>
            <a:r>
              <a:rPr sz="1300" b="1">
                <a:solidFill>
                  <a:srgbClr val="F0E6D2"/>
                </a:solidFill>
                <a:latin typeface="Calibri"/>
              </a:rPr>
              <a:t>pytest -q</a:t>
            </a:r>
          </a:p>
          <a:p>
            <a:pPr>
              <a:lnSpc>
                <a:spcPct val="105000"/>
              </a:lnSpc>
              <a:spcBef>
                <a:spcPts val="0"/>
              </a:spcBef>
              <a:spcAft>
                <a:spcPts val="900"/>
              </a:spcAft>
            </a:pPr>
            <a:r>
              <a:rPr sz="1300" b="1">
                <a:solidFill>
                  <a:srgbClr val="0AC8B9"/>
                </a:solidFill>
                <a:latin typeface="Calibri"/>
              </a:rPr>
              <a:t>✓ </a:t>
            </a:r>
            <a:r>
              <a:rPr sz="1300" b="1">
                <a:solidFill>
                  <a:srgbClr val="F0E6D2"/>
                </a:solidFill>
                <a:latin typeface="Calibri"/>
              </a:rPr>
              <a:t>47 tests</a:t>
            </a:r>
          </a:p>
          <a:p>
            <a:pPr>
              <a:lnSpc>
                <a:spcPct val="105000"/>
              </a:lnSpc>
              <a:spcBef>
                <a:spcPts val="0"/>
              </a:spcBef>
              <a:spcAft>
                <a:spcPts val="900"/>
              </a:spcAft>
            </a:pPr>
            <a:r>
              <a:rPr sz="1300" b="1">
                <a:solidFill>
                  <a:srgbClr val="0AC8B9"/>
                </a:solidFill>
                <a:latin typeface="Calibri"/>
              </a:rPr>
              <a:t>✓ </a:t>
            </a:r>
            <a:r>
              <a:rPr sz="1300" b="1">
                <a:solidFill>
                  <a:srgbClr val="F0E6D2"/>
                </a:solidFill>
                <a:latin typeface="Calibri"/>
              </a:rPr>
              <a:t>sans Docker/DB</a:t>
            </a:r>
          </a:p>
        </p:txBody>
      </p:sp>
      <p:sp>
        <p:nvSpPr>
          <p:cNvPr id="16" name="TextBox 15"/>
          <p:cNvSpPr txBox="1"/>
          <p:nvPr/>
        </p:nvSpPr>
        <p:spPr>
          <a:xfrm>
            <a:off x="4553712" y="3840480"/>
            <a:ext cx="31546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100" b="1">
                <a:solidFill>
                  <a:srgbClr val="A09B8C"/>
                </a:solidFill>
                <a:latin typeface="Calibri"/>
              </a:rPr>
              <a:t>Filet de sécurité</a:t>
            </a:r>
          </a:p>
        </p:txBody>
      </p:sp>
      <p:sp>
        <p:nvSpPr>
          <p:cNvPr id="17" name="TextBox 16"/>
          <p:cNvSpPr txBox="1"/>
          <p:nvPr/>
        </p:nvSpPr>
        <p:spPr>
          <a:xfrm>
            <a:off x="7872984" y="2697480"/>
            <a:ext cx="274320"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2000" b="0">
                <a:solidFill>
                  <a:srgbClr val="C8AA6E"/>
                </a:solidFill>
                <a:latin typeface="Calibri"/>
              </a:rPr>
              <a:t>→</a:t>
            </a:r>
          </a:p>
        </p:txBody>
      </p:sp>
      <p:sp>
        <p:nvSpPr>
          <p:cNvPr id="18" name="Rounded Rectangle 17"/>
          <p:cNvSpPr/>
          <p:nvPr/>
        </p:nvSpPr>
        <p:spPr>
          <a:xfrm>
            <a:off x="8010144" y="1783080"/>
            <a:ext cx="3611880" cy="2468880"/>
          </a:xfrm>
          <a:prstGeom prst="roundRect">
            <a:avLst/>
          </a:prstGeom>
          <a:solidFill>
            <a:srgbClr val="10203C"/>
          </a:solidFill>
          <a:ln w="1524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10144" y="1783080"/>
            <a:ext cx="3611880" cy="530352"/>
          </a:xfrm>
          <a:prstGeom prst="round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10144" y="1874520"/>
            <a:ext cx="3611880" cy="384048"/>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500" b="1">
                <a:solidFill>
                  <a:srgbClr val="0A1428"/>
                </a:solidFill>
                <a:latin typeface="Calibri"/>
              </a:rPr>
              <a:t>3 · BUILD</a:t>
            </a:r>
          </a:p>
        </p:txBody>
      </p:sp>
      <p:sp>
        <p:nvSpPr>
          <p:cNvPr id="21" name="TextBox 20"/>
          <p:cNvSpPr txBox="1"/>
          <p:nvPr/>
        </p:nvSpPr>
        <p:spPr>
          <a:xfrm>
            <a:off x="8284464" y="2496312"/>
            <a:ext cx="3154680" cy="1280160"/>
          </a:xfrm>
          <a:prstGeom prst="rect">
            <a:avLst/>
          </a:prstGeom>
          <a:noFill/>
        </p:spPr>
        <p:txBody>
          <a:bodyPr wrap="square">
            <a:spAutoFit/>
          </a:bodyPr>
          <a:lstStyle/>
          <a:p>
            <a:pPr>
              <a:lnSpc>
                <a:spcPct val="105000"/>
              </a:lnSpc>
              <a:spcBef>
                <a:spcPts val="0"/>
              </a:spcBef>
              <a:spcAft>
                <a:spcPts val="900"/>
              </a:spcAft>
            </a:pPr>
            <a:r>
              <a:rPr sz="1300" b="1">
                <a:solidFill>
                  <a:srgbClr val="C8AA6E"/>
                </a:solidFill>
                <a:latin typeface="Calibri"/>
              </a:rPr>
              <a:t>✓ </a:t>
            </a:r>
            <a:r>
              <a:rPr sz="1300" b="1">
                <a:solidFill>
                  <a:srgbClr val="F0E6D2"/>
                </a:solidFill>
                <a:latin typeface="Calibri"/>
              </a:rPr>
              <a:t>docker compose build</a:t>
            </a:r>
          </a:p>
          <a:p>
            <a:pPr>
              <a:lnSpc>
                <a:spcPct val="105000"/>
              </a:lnSpc>
              <a:spcBef>
                <a:spcPts val="0"/>
              </a:spcBef>
              <a:spcAft>
                <a:spcPts val="900"/>
              </a:spcAft>
            </a:pPr>
            <a:r>
              <a:rPr sz="1300" b="1">
                <a:solidFill>
                  <a:srgbClr val="C8AA6E"/>
                </a:solidFill>
                <a:latin typeface="Calibri"/>
              </a:rPr>
              <a:t>✓ </a:t>
            </a:r>
            <a:r>
              <a:rPr sz="1300" b="1">
                <a:solidFill>
                  <a:srgbClr val="F0E6D2"/>
                </a:solidFill>
                <a:latin typeface="Calibri"/>
              </a:rPr>
              <a:t>toutes les images</a:t>
            </a:r>
          </a:p>
          <a:p>
            <a:pPr>
              <a:lnSpc>
                <a:spcPct val="105000"/>
              </a:lnSpc>
              <a:spcBef>
                <a:spcPts val="0"/>
              </a:spcBef>
              <a:spcAft>
                <a:spcPts val="900"/>
              </a:spcAft>
            </a:pPr>
            <a:r>
              <a:rPr sz="1300" b="1">
                <a:solidFill>
                  <a:srgbClr val="C8AA6E"/>
                </a:solidFill>
                <a:latin typeface="Calibri"/>
              </a:rPr>
              <a:t>✓ </a:t>
            </a:r>
            <a:r>
              <a:rPr sz="1300" b="1">
                <a:solidFill>
                  <a:srgbClr val="F0E6D2"/>
                </a:solidFill>
                <a:latin typeface="Calibri"/>
              </a:rPr>
              <a:t>needs: test</a:t>
            </a:r>
          </a:p>
        </p:txBody>
      </p:sp>
      <p:sp>
        <p:nvSpPr>
          <p:cNvPr id="22" name="TextBox 21"/>
          <p:cNvSpPr txBox="1"/>
          <p:nvPr/>
        </p:nvSpPr>
        <p:spPr>
          <a:xfrm>
            <a:off x="8284464" y="3840480"/>
            <a:ext cx="31546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100" b="1">
                <a:solidFill>
                  <a:srgbClr val="A09B8C"/>
                </a:solidFill>
                <a:latin typeface="Calibri"/>
              </a:rPr>
              <a:t>Images livrables</a:t>
            </a:r>
          </a:p>
        </p:txBody>
      </p:sp>
      <p:sp>
        <p:nvSpPr>
          <p:cNvPr id="23" name="Rounded Rectangle 22"/>
          <p:cNvSpPr/>
          <p:nvPr/>
        </p:nvSpPr>
        <p:spPr>
          <a:xfrm>
            <a:off x="548640" y="4526280"/>
            <a:ext cx="11064240" cy="150876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663440"/>
            <a:ext cx="105156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C8AA6E"/>
                </a:solidFill>
                <a:latin typeface="Calibri"/>
              </a:rPr>
              <a:t>ORCHESTRATION e2e — Makefile (une cible par étape)</a:t>
            </a:r>
          </a:p>
        </p:txBody>
      </p:sp>
      <p:sp>
        <p:nvSpPr>
          <p:cNvPr id="25" name="TextBox 24"/>
          <p:cNvSpPr txBox="1"/>
          <p:nvPr/>
        </p:nvSpPr>
        <p:spPr>
          <a:xfrm>
            <a:off x="822960" y="5074920"/>
            <a:ext cx="10607040" cy="914400"/>
          </a:xfrm>
          <a:prstGeom prst="rect">
            <a:avLst/>
          </a:prstGeom>
          <a:noFill/>
        </p:spPr>
        <p:txBody>
          <a:bodyPr wrap="square" anchor="t" lIns="25400" rIns="25400" tIns="12700" bIns="12700">
            <a:spAutoFit/>
          </a:bodyPr>
          <a:lstStyle/>
          <a:p>
            <a:pPr algn="l">
              <a:lnSpc>
                <a:spcPct val="130000"/>
              </a:lnSpc>
              <a:spcBef>
                <a:spcPts val="0"/>
              </a:spcBef>
              <a:spcAft>
                <a:spcPts val="600"/>
              </a:spcAft>
            </a:pPr>
            <a:r>
              <a:rPr sz="1300" b="1">
                <a:solidFill>
                  <a:srgbClr val="0AC8B9"/>
                </a:solidFill>
                <a:latin typeface="Consolas"/>
              </a:rPr>
              <a:t>make demo</a:t>
            </a:r>
            <a:r>
              <a:rPr sz="1200" b="0">
                <a:solidFill>
                  <a:srgbClr val="A09B8C"/>
                </a:solidFill>
                <a:latin typeface="Calibri"/>
              </a:rPr>
              <a:t>  env → db → restore → up → seed → train      </a:t>
            </a:r>
            <a:r>
              <a:rPr sz="1300" b="1">
                <a:solidFill>
                  <a:srgbClr val="0AC8B9"/>
                </a:solidFill>
                <a:latin typeface="Consolas"/>
              </a:rPr>
              <a:t>make test</a:t>
            </a:r>
            <a:r>
              <a:rPr sz="1200" b="0">
                <a:solidFill>
                  <a:srgbClr val="A09B8C"/>
                </a:solidFill>
                <a:latin typeface="Calibri"/>
              </a:rPr>
              <a:t>  47 tests      </a:t>
            </a:r>
            <a:r>
              <a:rPr sz="1250" b="1">
                <a:solidFill>
                  <a:srgbClr val="0AC8B9"/>
                </a:solidFill>
                <a:latin typeface="Consolas"/>
              </a:rPr>
              <a:t>make monitoring-up · make drift · make retrain · make k8s-validate</a:t>
            </a:r>
          </a:p>
        </p:txBody>
      </p:sp>
      <p:sp>
        <p:nvSpPr>
          <p:cNvPr id="26" name="TextBox 25"/>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7" name="TextBox 26"/>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PHASE 3 · DÉPLOIEMENT</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Manifests Kubernetes (kustomize)</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960"/>
            <a:ext cx="4937760" cy="4023360"/>
          </a:xfrm>
          <a:prstGeom prst="rect">
            <a:avLst/>
          </a:prstGeom>
          <a:noFill/>
        </p:spPr>
        <p:txBody>
          <a:bodyPr wrap="square">
            <a:spAutoFit/>
          </a:bodyPr>
          <a:lstStyle/>
          <a:p>
            <a:pPr>
              <a:lnSpc>
                <a:spcPct val="105000"/>
              </a:lnSpc>
              <a:spcBef>
                <a:spcPts val="0"/>
              </a:spcBef>
              <a:spcAft>
                <a:spcPts val="1200"/>
              </a:spcAft>
            </a:pPr>
            <a:r>
              <a:rPr sz="1350" b="1">
                <a:solidFill>
                  <a:srgbClr val="C8AA6E"/>
                </a:solidFill>
                <a:latin typeface="Calibri"/>
              </a:rPr>
              <a:t>▸ </a:t>
            </a:r>
            <a:r>
              <a:rPr sz="1350" b="1">
                <a:solidFill>
                  <a:srgbClr val="F0E6D2"/>
                </a:solidFill>
                <a:latin typeface="Calibri"/>
              </a:rPr>
              <a:t>~32 ressources, kustomize 3 niveaux</a:t>
            </a:r>
            <a:r>
              <a:rPr sz="1250">
                <a:solidFill>
                  <a:srgbClr val="A09B8C"/>
                </a:solidFill>
                <a:latin typeface="Calibri"/>
              </a:rPr>
              <a:t>  —  base + monitoring + ingress</a:t>
            </a:r>
          </a:p>
          <a:p>
            <a:pPr>
              <a:lnSpc>
                <a:spcPct val="105000"/>
              </a:lnSpc>
              <a:spcBef>
                <a:spcPts val="0"/>
              </a:spcBef>
              <a:spcAft>
                <a:spcPts val="1200"/>
              </a:spcAft>
            </a:pPr>
            <a:r>
              <a:rPr sz="1350" b="1">
                <a:solidFill>
                  <a:srgbClr val="C8AA6E"/>
                </a:solidFill>
                <a:latin typeface="Calibri"/>
              </a:rPr>
              <a:t>▸ </a:t>
            </a:r>
            <a:r>
              <a:rPr sz="1350" b="1">
                <a:solidFill>
                  <a:srgbClr val="F0E6D2"/>
                </a:solidFill>
                <a:latin typeface="Calibri"/>
              </a:rPr>
              <a:t>Workloads</a:t>
            </a:r>
            <a:r>
              <a:rPr sz="1250">
                <a:solidFill>
                  <a:srgbClr val="A09B8C"/>
                </a:solidFill>
                <a:latin typeface="Calibri"/>
              </a:rPr>
              <a:t>  —  Postgres StatefulSet, API/Streamlit Deployments + HPA, MLflow</a:t>
            </a:r>
          </a:p>
          <a:p>
            <a:pPr>
              <a:lnSpc>
                <a:spcPct val="105000"/>
              </a:lnSpc>
              <a:spcBef>
                <a:spcPts val="0"/>
              </a:spcBef>
              <a:spcAft>
                <a:spcPts val="1200"/>
              </a:spcAft>
            </a:pPr>
            <a:r>
              <a:rPr sz="1350" b="1">
                <a:solidFill>
                  <a:srgbClr val="C8AA6E"/>
                </a:solidFill>
                <a:latin typeface="Calibri"/>
              </a:rPr>
              <a:t>▸ </a:t>
            </a:r>
            <a:r>
              <a:rPr sz="1350" b="1">
                <a:solidFill>
                  <a:srgbClr val="F0E6D2"/>
                </a:solidFill>
                <a:latin typeface="Calibri"/>
              </a:rPr>
              <a:t>Observabilité</a:t>
            </a:r>
            <a:r>
              <a:rPr sz="1250">
                <a:solidFill>
                  <a:srgbClr val="A09B8C"/>
                </a:solidFill>
                <a:latin typeface="Calibri"/>
              </a:rPr>
              <a:t>  —  Prometheus (TSDB) + Grafana provisionnés</a:t>
            </a:r>
          </a:p>
          <a:p>
            <a:pPr>
              <a:lnSpc>
                <a:spcPct val="105000"/>
              </a:lnSpc>
              <a:spcBef>
                <a:spcPts val="0"/>
              </a:spcBef>
              <a:spcAft>
                <a:spcPts val="1200"/>
              </a:spcAft>
            </a:pPr>
            <a:r>
              <a:rPr sz="1350" b="1">
                <a:solidFill>
                  <a:srgbClr val="C8AA6E"/>
                </a:solidFill>
                <a:latin typeface="Calibri"/>
              </a:rPr>
              <a:t>▸ </a:t>
            </a:r>
            <a:r>
              <a:rPr sz="1350" b="1">
                <a:solidFill>
                  <a:srgbClr val="F0E6D2"/>
                </a:solidFill>
                <a:latin typeface="Calibri"/>
              </a:rPr>
              <a:t>Sécurité</a:t>
            </a:r>
            <a:r>
              <a:rPr sz="1250">
                <a:solidFill>
                  <a:srgbClr val="A09B8C"/>
                </a:solidFill>
                <a:latin typeface="Calibri"/>
              </a:rPr>
              <a:t>  —  Ingress TLS, NetworkPolicy default-deny, pods non-root</a:t>
            </a:r>
          </a:p>
          <a:p>
            <a:pPr>
              <a:lnSpc>
                <a:spcPct val="105000"/>
              </a:lnSpc>
              <a:spcBef>
                <a:spcPts val="0"/>
              </a:spcBef>
              <a:spcAft>
                <a:spcPts val="1200"/>
              </a:spcAft>
            </a:pPr>
            <a:r>
              <a:rPr sz="1350" b="1">
                <a:solidFill>
                  <a:srgbClr val="C8AA6E"/>
                </a:solidFill>
                <a:latin typeface="Calibri"/>
              </a:rPr>
              <a:t>▸ </a:t>
            </a:r>
            <a:r>
              <a:rPr sz="1350" b="1">
                <a:solidFill>
                  <a:srgbClr val="F0E6D2"/>
                </a:solidFill>
                <a:latin typeface="Calibri"/>
              </a:rPr>
              <a:t>Validé hors cluster</a:t>
            </a:r>
            <a:r>
              <a:rPr sz="1250">
                <a:solidFill>
                  <a:srgbClr val="A09B8C"/>
                </a:solidFill>
                <a:latin typeface="Calibri"/>
              </a:rPr>
              <a:t>  —  make k8s-validate → kubeconform 32/32</a:t>
            </a:r>
          </a:p>
        </p:txBody>
      </p:sp>
      <p:sp>
        <p:nvSpPr>
          <p:cNvPr id="8" name="Rounded Rectangle 7"/>
          <p:cNvSpPr/>
          <p:nvPr/>
        </p:nvSpPr>
        <p:spPr>
          <a:xfrm>
            <a:off x="6309360" y="1691640"/>
            <a:ext cx="530352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920240"/>
            <a:ext cx="475488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POSITIONNEMENT HONNÊTE</a:t>
            </a:r>
          </a:p>
        </p:txBody>
      </p:sp>
      <p:sp>
        <p:nvSpPr>
          <p:cNvPr id="10" name="TextBox 9"/>
          <p:cNvSpPr txBox="1"/>
          <p:nvPr/>
        </p:nvSpPr>
        <p:spPr>
          <a:xfrm>
            <a:off x="6583680" y="2468880"/>
            <a:ext cx="4754880" cy="3291840"/>
          </a:xfrm>
          <a:prstGeom prst="rect">
            <a:avLst/>
          </a:prstGeom>
          <a:noFill/>
        </p:spPr>
        <p:txBody>
          <a:bodyPr wrap="square">
            <a:spAutoFit/>
          </a:bodyPr>
          <a:lstStyle/>
          <a:p>
            <a:pPr>
              <a:lnSpc>
                <a:spcPct val="105000"/>
              </a:lnSpc>
              <a:spcBef>
                <a:spcPts val="0"/>
              </a:spcBef>
              <a:spcAft>
                <a:spcPts val="1400"/>
              </a:spcAft>
            </a:pPr>
            <a:r>
              <a:rPr sz="1350" b="1">
                <a:solidFill>
                  <a:srgbClr val="C8AA6E"/>
                </a:solidFill>
                <a:latin typeface="Calibri"/>
              </a:rPr>
              <a:t>▸ </a:t>
            </a:r>
            <a:r>
              <a:rPr sz="1350" b="1">
                <a:solidFill>
                  <a:srgbClr val="F0E6D2"/>
                </a:solidFill>
                <a:latin typeface="Calibri"/>
              </a:rPr>
              <a:t>La démo tourne sur Docker Compose</a:t>
            </a:r>
            <a:r>
              <a:rPr sz="1250">
                <a:solidFill>
                  <a:srgbClr val="A09B8C"/>
                </a:solidFill>
                <a:latin typeface="Calibri"/>
              </a:rPr>
              <a:t>  —  K8s = environnement cible, hors démo</a:t>
            </a:r>
          </a:p>
          <a:p>
            <a:pPr>
              <a:lnSpc>
                <a:spcPct val="105000"/>
              </a:lnSpc>
              <a:spcBef>
                <a:spcPts val="0"/>
              </a:spcBef>
              <a:spcAft>
                <a:spcPts val="1400"/>
              </a:spcAft>
            </a:pPr>
            <a:r>
              <a:rPr sz="1350" b="1">
                <a:solidFill>
                  <a:srgbClr val="C8AA6E"/>
                </a:solidFill>
                <a:latin typeface="Calibri"/>
              </a:rPr>
              <a:t>▸ </a:t>
            </a:r>
            <a:r>
              <a:rPr sz="1350" b="1">
                <a:solidFill>
                  <a:srgbClr val="F0E6D2"/>
                </a:solidFill>
                <a:latin typeface="Calibri"/>
              </a:rPr>
              <a:t>Manifests validés côté schéma</a:t>
            </a:r>
            <a:r>
              <a:rPr sz="1250">
                <a:solidFill>
                  <a:srgbClr val="A09B8C"/>
                </a:solidFill>
                <a:latin typeface="Calibri"/>
              </a:rPr>
              <a:t>  —  pas déployés sur un cluster live</a:t>
            </a:r>
          </a:p>
          <a:p>
            <a:pPr>
              <a:lnSpc>
                <a:spcPct val="105000"/>
              </a:lnSpc>
              <a:spcBef>
                <a:spcPts val="0"/>
              </a:spcBef>
              <a:spcAft>
                <a:spcPts val="1400"/>
              </a:spcAft>
            </a:pPr>
            <a:r>
              <a:rPr sz="1350" b="1">
                <a:solidFill>
                  <a:srgbClr val="C8AA6E"/>
                </a:solidFill>
                <a:latin typeface="Calibri"/>
              </a:rPr>
              <a:t>▸ </a:t>
            </a:r>
            <a:r>
              <a:rPr sz="1350" b="1">
                <a:solidFill>
                  <a:srgbClr val="F0E6D2"/>
                </a:solidFill>
                <a:latin typeface="Calibri"/>
              </a:rPr>
              <a:t>Scalabilité prête</a:t>
            </a:r>
            <a:r>
              <a:rPr sz="1250">
                <a:solidFill>
                  <a:srgbClr val="A09B8C"/>
                </a:solidFill>
                <a:latin typeface="Calibri"/>
              </a:rPr>
              <a:t>  —  HPA API 2→6, Streamlit 2→4</a:t>
            </a:r>
          </a:p>
          <a:p>
            <a:pPr>
              <a:lnSpc>
                <a:spcPct val="105000"/>
              </a:lnSpc>
              <a:spcBef>
                <a:spcPts val="0"/>
              </a:spcBef>
              <a:spcAft>
                <a:spcPts val="1400"/>
              </a:spcAft>
            </a:pPr>
            <a:r>
              <a:rPr sz="1350" b="1">
                <a:solidFill>
                  <a:srgbClr val="C8AA6E"/>
                </a:solidFill>
                <a:latin typeface="Calibri"/>
              </a:rPr>
              <a:t>▸ </a:t>
            </a:r>
            <a:r>
              <a:rPr sz="1350" b="1">
                <a:solidFill>
                  <a:srgbClr val="F0E6D2"/>
                </a:solidFill>
                <a:latin typeface="Calibri"/>
              </a:rPr>
              <a:t>Prochaine étape</a:t>
            </a:r>
            <a:r>
              <a:rPr sz="1250">
                <a:solidFill>
                  <a:srgbClr val="A09B8C"/>
                </a:solidFill>
                <a:latin typeface="Calibri"/>
              </a:rPr>
              <a:t>  —  registry d'images + secrets + modèles via PVC</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06240" cy="685800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06240" y="0"/>
            <a:ext cx="38100" cy="6858000"/>
          </a:xfrm>
          <a:prstGeom prst="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32918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a:solidFill>
                  <a:srgbClr val="E84B55"/>
                </a:solidFill>
                <a:latin typeface="Calibri"/>
              </a:rPr>
              <a:t>PHASE 4</a:t>
            </a:r>
          </a:p>
        </p:txBody>
      </p:sp>
      <p:sp>
        <p:nvSpPr>
          <p:cNvPr id="6" name="TextBox 5"/>
          <p:cNvSpPr txBox="1"/>
          <p:nvPr/>
        </p:nvSpPr>
        <p:spPr>
          <a:xfrm>
            <a:off x="548640" y="1783080"/>
            <a:ext cx="3383280" cy="1463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Monitoring &amp;
Maintenance</a:t>
            </a:r>
          </a:p>
        </p:txBody>
      </p:sp>
      <p:sp>
        <p:nvSpPr>
          <p:cNvPr id="7" name="Rounded Rectangle 6"/>
          <p:cNvSpPr/>
          <p:nvPr/>
        </p:nvSpPr>
        <p:spPr>
          <a:xfrm>
            <a:off x="548640" y="3657600"/>
            <a:ext cx="2468880" cy="384048"/>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2468880" cy="384048"/>
          </a:xfrm>
          <a:prstGeom prst="rect">
            <a:avLst/>
          </a:prstGeom>
          <a:noFill/>
        </p:spPr>
        <p:txBody>
          <a:bodyPr wrap="square" anchor="ctr" lIns="25400" rIns="25400" tIns="12700" bIns="12700">
            <a:spAutoFit/>
          </a:bodyPr>
          <a:lstStyle/>
          <a:p>
            <a:pPr algn="ctr">
              <a:lnSpc>
                <a:spcPct val="100000"/>
              </a:lnSpc>
              <a:spcBef>
                <a:spcPts val="0"/>
              </a:spcBef>
              <a:spcAft>
                <a:spcPts val="600"/>
              </a:spcAft>
            </a:pPr>
            <a:r>
              <a:rPr sz="1300" b="1">
                <a:solidFill>
                  <a:srgbClr val="E84B55"/>
                </a:solidFill>
                <a:latin typeface="Calibri"/>
              </a:rPr>
              <a:t>Échéance · 25 mai</a:t>
            </a:r>
          </a:p>
        </p:txBody>
      </p:sp>
      <p:sp>
        <p:nvSpPr>
          <p:cNvPr id="9" name="TextBox 8"/>
          <p:cNvSpPr txBox="1"/>
          <p:nvPr/>
        </p:nvSpPr>
        <p:spPr>
          <a:xfrm>
            <a:off x="4663440" y="1143000"/>
            <a:ext cx="694944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400" b="1">
                <a:solidFill>
                  <a:srgbClr val="E84B55"/>
                </a:solidFill>
                <a:latin typeface="Calibri"/>
              </a:rPr>
              <a:t>OBJECTIFS DE LA PHASE</a:t>
            </a:r>
          </a:p>
        </p:txBody>
      </p:sp>
      <p:sp>
        <p:nvSpPr>
          <p:cNvPr id="10" name="TextBox 9"/>
          <p:cNvSpPr txBox="1"/>
          <p:nvPr/>
        </p:nvSpPr>
        <p:spPr>
          <a:xfrm>
            <a:off x="4663440" y="1783080"/>
            <a:ext cx="6858000" cy="4572000"/>
          </a:xfrm>
          <a:prstGeom prst="rect">
            <a:avLst/>
          </a:prstGeom>
          <a:noFill/>
        </p:spPr>
        <p:txBody>
          <a:bodyPr wrap="square">
            <a:spAutoFit/>
          </a:bodyPr>
          <a:lstStyle/>
          <a:p>
            <a:pPr>
              <a:lnSpc>
                <a:spcPct val="105000"/>
              </a:lnSpc>
              <a:spcBef>
                <a:spcPts val="0"/>
              </a:spcBef>
              <a:spcAft>
                <a:spcPts val="1500"/>
              </a:spcAft>
            </a:pPr>
            <a:r>
              <a:rPr sz="1600" b="1">
                <a:solidFill>
                  <a:srgbClr val="E84B55"/>
                </a:solidFill>
                <a:latin typeface="Calibri"/>
              </a:rPr>
              <a:t>▸ </a:t>
            </a:r>
            <a:r>
              <a:rPr sz="1600" b="1">
                <a:solidFill>
                  <a:srgbClr val="F0E6D2"/>
                </a:solidFill>
                <a:latin typeface="Calibri"/>
              </a:rPr>
              <a:t>Monitoring de l'API</a:t>
            </a:r>
            <a:r>
              <a:rPr sz="1500">
                <a:solidFill>
                  <a:srgbClr val="A09B8C"/>
                </a:solidFill>
                <a:latin typeface="Calibri"/>
              </a:rPr>
              <a:t>  —  Prometheus + Grafana provisionnés</a:t>
            </a:r>
          </a:p>
          <a:p>
            <a:pPr>
              <a:lnSpc>
                <a:spcPct val="105000"/>
              </a:lnSpc>
              <a:spcBef>
                <a:spcPts val="0"/>
              </a:spcBef>
              <a:spcAft>
                <a:spcPts val="1500"/>
              </a:spcAft>
            </a:pPr>
            <a:r>
              <a:rPr sz="1600" b="1">
                <a:solidFill>
                  <a:srgbClr val="E84B55"/>
                </a:solidFill>
                <a:latin typeface="Calibri"/>
              </a:rPr>
              <a:t>▸ </a:t>
            </a:r>
            <a:r>
              <a:rPr sz="1600" b="1">
                <a:solidFill>
                  <a:srgbClr val="F0E6D2"/>
                </a:solidFill>
                <a:latin typeface="Calibri"/>
              </a:rPr>
              <a:t>Métrique métier</a:t>
            </a:r>
            <a:r>
              <a:rPr sz="1500">
                <a:solidFill>
                  <a:srgbClr val="A09B8C"/>
                </a:solidFill>
                <a:latin typeface="Calibri"/>
              </a:rPr>
              <a:t>  —  lol_predictions_total{model}</a:t>
            </a:r>
          </a:p>
          <a:p>
            <a:pPr>
              <a:lnSpc>
                <a:spcPct val="105000"/>
              </a:lnSpc>
              <a:spcBef>
                <a:spcPts val="0"/>
              </a:spcBef>
              <a:spcAft>
                <a:spcPts val="1500"/>
              </a:spcAft>
            </a:pPr>
            <a:r>
              <a:rPr sz="1600" b="1">
                <a:solidFill>
                  <a:srgbClr val="E84B55"/>
                </a:solidFill>
                <a:latin typeface="Calibri"/>
              </a:rPr>
              <a:t>▸ </a:t>
            </a:r>
            <a:r>
              <a:rPr sz="1600" b="1">
                <a:solidFill>
                  <a:srgbClr val="F0E6D2"/>
                </a:solidFill>
                <a:latin typeface="Calibri"/>
              </a:rPr>
              <a:t>Détection de dérive (Evidently)</a:t>
            </a:r>
            <a:r>
              <a:rPr sz="1500">
                <a:solidFill>
                  <a:srgbClr val="A09B8C"/>
                </a:solidFill>
                <a:latin typeface="Calibri"/>
              </a:rPr>
              <a:t>  —  rapport sur données synthétiques</a:t>
            </a:r>
          </a:p>
          <a:p>
            <a:pPr>
              <a:lnSpc>
                <a:spcPct val="105000"/>
              </a:lnSpc>
              <a:spcBef>
                <a:spcPts val="0"/>
              </a:spcBef>
              <a:spcAft>
                <a:spcPts val="1500"/>
              </a:spcAft>
            </a:pPr>
            <a:r>
              <a:rPr sz="1600" b="1">
                <a:solidFill>
                  <a:srgbClr val="E84B55"/>
                </a:solidFill>
                <a:latin typeface="Calibri"/>
              </a:rPr>
              <a:t>▸ </a:t>
            </a:r>
            <a:r>
              <a:rPr sz="1600" b="1">
                <a:solidFill>
                  <a:srgbClr val="F0E6D2"/>
                </a:solidFill>
                <a:latin typeface="Calibri"/>
              </a:rPr>
              <a:t>Hook de re-entraînement piloté par la dérive</a:t>
            </a:r>
            <a:r>
              <a:rPr sz="1500">
                <a:solidFill>
                  <a:srgbClr val="A09B8C"/>
                </a:solidFill>
                <a:latin typeface="Calibri"/>
              </a:rPr>
              <a:t>  —  décision automatique, gated</a:t>
            </a:r>
          </a:p>
        </p:txBody>
      </p:sp>
      <p:sp>
        <p:nvSpPr>
          <p:cNvPr id="11" name="TextBox 10"/>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2" name="TextBox 11"/>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PHASE 4 · OBSERVABILITÉ</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Monitoring &amp; détection de dérive</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MONITORING — Prometheus / Grafana</a:t>
            </a:r>
          </a:p>
        </p:txBody>
      </p:sp>
      <p:sp>
        <p:nvSpPr>
          <p:cNvPr id="8" name="TextBox 7"/>
          <p:cNvSpPr txBox="1"/>
          <p:nvPr/>
        </p:nvSpPr>
        <p:spPr>
          <a:xfrm>
            <a:off x="868680" y="2286000"/>
            <a:ext cx="4937760" cy="1554480"/>
          </a:xfrm>
          <a:prstGeom prst="rect">
            <a:avLst/>
          </a:prstGeom>
          <a:noFill/>
        </p:spPr>
        <p:txBody>
          <a:bodyPr wrap="square">
            <a:spAutoFit/>
          </a:bodyPr>
          <a:lstStyle/>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API instrumentée → /metrics</a:t>
            </a:r>
            <a:r>
              <a:rPr sz="1200">
                <a:solidFill>
                  <a:srgbClr val="A09B8C"/>
                </a:solidFill>
                <a:latin typeface="Calibri"/>
              </a:rPr>
              <a:t>  —  compteur/latence HTTP + métier</a:t>
            </a:r>
          </a:p>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lol_predictions_total{model}</a:t>
            </a:r>
            <a:r>
              <a:rPr sz="1200">
                <a:solidFill>
                  <a:srgbClr val="A09B8C"/>
                </a:solidFill>
                <a:latin typeface="Calibri"/>
              </a:rPr>
              <a:t>  —  incrémenté à chaque prédiction</a:t>
            </a:r>
          </a:p>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Dashboard Grafana provisionné</a:t>
            </a:r>
            <a:r>
              <a:rPr sz="1200">
                <a:solidFill>
                  <a:srgbClr val="A09B8C"/>
                </a:solidFill>
                <a:latin typeface="Calibri"/>
              </a:rPr>
              <a:t>  —  "LoL Draft Predictor — API &amp; Predictions"</a:t>
            </a:r>
          </a:p>
        </p:txBody>
      </p:sp>
      <p:sp>
        <p:nvSpPr>
          <p:cNvPr id="9" name="TextBox 8"/>
          <p:cNvSpPr txBox="1"/>
          <p:nvPr/>
        </p:nvSpPr>
        <p:spPr>
          <a:xfrm>
            <a:off x="868680" y="4160520"/>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DÉRIVE — Evidently</a:t>
            </a:r>
          </a:p>
        </p:txBody>
      </p:sp>
      <p:sp>
        <p:nvSpPr>
          <p:cNvPr id="10" name="TextBox 9"/>
          <p:cNvSpPr txBox="1"/>
          <p:nvPr/>
        </p:nvSpPr>
        <p:spPr>
          <a:xfrm>
            <a:off x="868680" y="4572000"/>
            <a:ext cx="4937760" cy="1371600"/>
          </a:xfrm>
          <a:prstGeom prst="rect">
            <a:avLst/>
          </a:prstGeom>
          <a:noFill/>
        </p:spPr>
        <p:txBody>
          <a:bodyPr wrap="square">
            <a:spAutoFit/>
          </a:bodyPr>
          <a:lstStyle/>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6 features comparées (gold diffs @10)</a:t>
            </a:r>
            <a:r>
              <a:rPr sz="1200">
                <a:solidFill>
                  <a:srgbClr val="A09B8C"/>
                </a:solidFill>
                <a:latin typeface="Calibri"/>
              </a:rPr>
              <a:t>  —  global + 5 rôles · split temporel 70/30</a:t>
            </a:r>
          </a:p>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DataDriftPreset → drift_share (0-1)</a:t>
            </a:r>
            <a:r>
              <a:rPr sz="1200">
                <a:solidFill>
                  <a:srgbClr val="A09B8C"/>
                </a:solidFill>
                <a:latin typeface="Calibri"/>
              </a:rPr>
              <a:t>  —  rapport HTML+JSON · synthétique par défaut</a:t>
            </a:r>
          </a:p>
          <a:p>
            <a:pPr>
              <a:lnSpc>
                <a:spcPct val="105000"/>
              </a:lnSpc>
              <a:spcBef>
                <a:spcPts val="0"/>
              </a:spcBef>
              <a:spcAft>
                <a:spcPts val="800"/>
              </a:spcAft>
            </a:pPr>
            <a:r>
              <a:rPr sz="1300" b="1">
                <a:solidFill>
                  <a:srgbClr val="E84B55"/>
                </a:solidFill>
                <a:latin typeface="Calibri"/>
              </a:rPr>
              <a:t>▸ </a:t>
            </a:r>
            <a:r>
              <a:rPr sz="1300" b="1">
                <a:solidFill>
                  <a:srgbClr val="F0E6D2"/>
                </a:solidFill>
                <a:latin typeface="Calibri"/>
              </a:rPr>
              <a:t>auto_retrain : drift_share &gt; 0.5 → RETRAIN</a:t>
            </a:r>
            <a:r>
              <a:rPr sz="1200">
                <a:solidFill>
                  <a:srgbClr val="A09B8C"/>
                </a:solidFill>
                <a:latin typeface="Calibri"/>
              </a:rPr>
              <a:t>  —  sinon NO-OP · seuil surchargeable par env</a:t>
            </a:r>
          </a:p>
        </p:txBody>
      </p:sp>
      <p:sp>
        <p:nvSpPr>
          <p:cNvPr id="11" name="Rounded Rectangle 10"/>
          <p:cNvSpPr/>
          <p:nvPr/>
        </p:nvSpPr>
        <p:spPr>
          <a:xfrm>
            <a:off x="6309360" y="1691640"/>
            <a:ext cx="530352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874519"/>
            <a:ext cx="475488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POURQUOI C'EST CRUCIAL ICI</a:t>
            </a:r>
          </a:p>
        </p:txBody>
      </p:sp>
      <p:sp>
        <p:nvSpPr>
          <p:cNvPr id="13" name="TextBox 12"/>
          <p:cNvSpPr txBox="1"/>
          <p:nvPr/>
        </p:nvSpPr>
        <p:spPr>
          <a:xfrm>
            <a:off x="6583680" y="2377440"/>
            <a:ext cx="4754880" cy="3474720"/>
          </a:xfrm>
          <a:prstGeom prst="rect">
            <a:avLst/>
          </a:prstGeom>
          <a:noFill/>
        </p:spPr>
        <p:txBody>
          <a:bodyPr wrap="square">
            <a:spAutoFit/>
          </a:bodyPr>
          <a:lstStyle/>
          <a:p>
            <a:pPr>
              <a:lnSpc>
                <a:spcPct val="105000"/>
              </a:lnSpc>
              <a:spcBef>
                <a:spcPts val="0"/>
              </a:spcBef>
              <a:spcAft>
                <a:spcPts val="1300"/>
              </a:spcAft>
            </a:pPr>
            <a:r>
              <a:rPr sz="1350" b="1">
                <a:solidFill>
                  <a:srgbClr val="C8AA6E"/>
                </a:solidFill>
                <a:latin typeface="Calibri"/>
              </a:rPr>
              <a:t>▸ </a:t>
            </a:r>
            <a:r>
              <a:rPr sz="1350" b="1">
                <a:solidFill>
                  <a:srgbClr val="F0E6D2"/>
                </a:solidFill>
                <a:latin typeface="Calibri"/>
              </a:rPr>
              <a:t>La méta change à chaque patch</a:t>
            </a:r>
            <a:r>
              <a:rPr sz="1250">
                <a:solidFill>
                  <a:srgbClr val="A09B8C"/>
                </a:solidFill>
                <a:latin typeface="Calibri"/>
              </a:rPr>
              <a:t>  —  nouveaux champions, rééquilibrages</a:t>
            </a:r>
          </a:p>
          <a:p>
            <a:pPr>
              <a:lnSpc>
                <a:spcPct val="105000"/>
              </a:lnSpc>
              <a:spcBef>
                <a:spcPts val="0"/>
              </a:spcBef>
              <a:spcAft>
                <a:spcPts val="1300"/>
              </a:spcAft>
            </a:pPr>
            <a:r>
              <a:rPr sz="1350" b="1">
                <a:solidFill>
                  <a:srgbClr val="C8AA6E"/>
                </a:solidFill>
                <a:latin typeface="Calibri"/>
              </a:rPr>
              <a:t>▸ </a:t>
            </a:r>
            <a:r>
              <a:rPr sz="1350" b="1">
                <a:solidFill>
                  <a:srgbClr val="F0E6D2"/>
                </a:solidFill>
                <a:latin typeface="Calibri"/>
              </a:rPr>
              <a:t>→ les distributions de draft dérivent</a:t>
            </a:r>
            <a:r>
              <a:rPr sz="1250">
                <a:solidFill>
                  <a:srgbClr val="A09B8C"/>
                </a:solidFill>
                <a:latin typeface="Calibri"/>
              </a:rPr>
              <a:t>  —  un modèle vieillit vite</a:t>
            </a:r>
          </a:p>
          <a:p>
            <a:pPr>
              <a:lnSpc>
                <a:spcPct val="105000"/>
              </a:lnSpc>
              <a:spcBef>
                <a:spcPts val="0"/>
              </a:spcBef>
              <a:spcAft>
                <a:spcPts val="1300"/>
              </a:spcAft>
            </a:pPr>
            <a:r>
              <a:rPr sz="1350" b="1">
                <a:solidFill>
                  <a:srgbClr val="C8AA6E"/>
                </a:solidFill>
                <a:latin typeface="Calibri"/>
              </a:rPr>
              <a:t>▸ </a:t>
            </a:r>
            <a:r>
              <a:rPr sz="1350" b="1">
                <a:solidFill>
                  <a:srgbClr val="F0E6D2"/>
                </a:solidFill>
                <a:latin typeface="Calibri"/>
              </a:rPr>
              <a:t>Evidently compare réf. vs prod</a:t>
            </a:r>
            <a:r>
              <a:rPr sz="1250">
                <a:solidFill>
                  <a:srgbClr val="A09B8C"/>
                </a:solidFill>
                <a:latin typeface="Calibri"/>
              </a:rPr>
              <a:t>  —  alerte au-delà d'un seuil</a:t>
            </a:r>
          </a:p>
          <a:p>
            <a:pPr>
              <a:lnSpc>
                <a:spcPct val="105000"/>
              </a:lnSpc>
              <a:spcBef>
                <a:spcPts val="0"/>
              </a:spcBef>
              <a:spcAft>
                <a:spcPts val="1300"/>
              </a:spcAft>
            </a:pPr>
            <a:r>
              <a:rPr sz="1350" b="1">
                <a:solidFill>
                  <a:srgbClr val="C8AA6E"/>
                </a:solidFill>
                <a:latin typeface="Calibri"/>
              </a:rPr>
              <a:t>▸ </a:t>
            </a:r>
            <a:r>
              <a:rPr sz="1350" b="1">
                <a:solidFill>
                  <a:srgbClr val="F0E6D2"/>
                </a:solidFill>
                <a:latin typeface="Calibri"/>
              </a:rPr>
              <a:t>Boucle de rétroaction</a:t>
            </a:r>
            <a:r>
              <a:rPr sz="1250">
                <a:solidFill>
                  <a:srgbClr val="A09B8C"/>
                </a:solidFill>
                <a:latin typeface="Calibri"/>
              </a:rPr>
              <a:t>  —  dérive → décision de re-entraînement → nouveau modèle</a:t>
            </a:r>
          </a:p>
        </p:txBody>
      </p:sp>
      <p:sp>
        <p:nvSpPr>
          <p:cNvPr id="14" name="TextBox 13"/>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5" name="TextBox 14"/>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5 · DÉMONSTRATION</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Scénario de démo (bout en bout)</a:t>
            </a:r>
          </a:p>
        </p:txBody>
      </p:sp>
      <p:sp>
        <p:nvSpPr>
          <p:cNvPr id="6" name="Rounded Rectangle 5"/>
          <p:cNvSpPr/>
          <p:nvPr/>
        </p:nvSpPr>
        <p:spPr>
          <a:xfrm>
            <a:off x="548640" y="1783080"/>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783080"/>
            <a:ext cx="603504" cy="603504"/>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1</a:t>
            </a:r>
          </a:p>
        </p:txBody>
      </p:sp>
      <p:sp>
        <p:nvSpPr>
          <p:cNvPr id="9" name="TextBox 8"/>
          <p:cNvSpPr txBox="1"/>
          <p:nvPr/>
        </p:nvSpPr>
        <p:spPr>
          <a:xfrm>
            <a:off x="1325880" y="1828800"/>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0AC8B9"/>
                </a:solidFill>
                <a:latin typeface="Calibri"/>
              </a:rPr>
              <a:t>Tests offline</a:t>
            </a:r>
          </a:p>
        </p:txBody>
      </p:sp>
      <p:sp>
        <p:nvSpPr>
          <p:cNvPr id="10" name="TextBox 9"/>
          <p:cNvSpPr txBox="1"/>
          <p:nvPr/>
        </p:nvSpPr>
        <p:spPr>
          <a:xfrm>
            <a:off x="3611880" y="1828800"/>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pytest → 47 verts, sans Docker ni DB</a:t>
            </a:r>
          </a:p>
        </p:txBody>
      </p:sp>
      <p:sp>
        <p:nvSpPr>
          <p:cNvPr id="11" name="Rounded Rectangle 10"/>
          <p:cNvSpPr/>
          <p:nvPr/>
        </p:nvSpPr>
        <p:spPr>
          <a:xfrm>
            <a:off x="548640" y="2496312"/>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8640" y="2496312"/>
            <a:ext cx="603504" cy="603504"/>
          </a:xfrm>
          <a:prstGeom prst="round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560320"/>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2</a:t>
            </a:r>
          </a:p>
        </p:txBody>
      </p:sp>
      <p:sp>
        <p:nvSpPr>
          <p:cNvPr id="14" name="TextBox 13"/>
          <p:cNvSpPr txBox="1"/>
          <p:nvPr/>
        </p:nvSpPr>
        <p:spPr>
          <a:xfrm>
            <a:off x="1325880" y="2542032"/>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3D9DF3"/>
                </a:solidFill>
                <a:latin typeface="Calibri"/>
              </a:rPr>
              <a:t>Stack up</a:t>
            </a:r>
          </a:p>
        </p:txBody>
      </p:sp>
      <p:sp>
        <p:nvSpPr>
          <p:cNvPr id="15" name="TextBox 14"/>
          <p:cNvSpPr txBox="1"/>
          <p:nvPr/>
        </p:nvSpPr>
        <p:spPr>
          <a:xfrm>
            <a:off x="3611880" y="2542032"/>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make demo : les 6 services démarrent</a:t>
            </a:r>
          </a:p>
        </p:txBody>
      </p:sp>
      <p:sp>
        <p:nvSpPr>
          <p:cNvPr id="16" name="Rounded Rectangle 15"/>
          <p:cNvSpPr/>
          <p:nvPr/>
        </p:nvSpPr>
        <p:spPr>
          <a:xfrm>
            <a:off x="548640" y="3209544"/>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209544"/>
            <a:ext cx="603504" cy="603504"/>
          </a:xfrm>
          <a:prstGeom prst="round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73552"/>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3</a:t>
            </a:r>
          </a:p>
        </p:txBody>
      </p:sp>
      <p:sp>
        <p:nvSpPr>
          <p:cNvPr id="19" name="TextBox 18"/>
          <p:cNvSpPr txBox="1"/>
          <p:nvPr/>
        </p:nvSpPr>
        <p:spPr>
          <a:xfrm>
            <a:off x="1325880" y="3255264"/>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0AC8B9"/>
                </a:solidFill>
                <a:latin typeface="Calibri"/>
              </a:rPr>
              <a:t>Prédiction live</a:t>
            </a:r>
          </a:p>
        </p:txBody>
      </p:sp>
      <p:sp>
        <p:nvSpPr>
          <p:cNvPr id="20" name="TextBox 19"/>
          <p:cNvSpPr txBox="1"/>
          <p:nvPr/>
        </p:nvSpPr>
        <p:spPr>
          <a:xfrm>
            <a:off x="3611880" y="3255264"/>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POST /predict/at/10 + UI Streamlit</a:t>
            </a:r>
          </a:p>
        </p:txBody>
      </p:sp>
      <p:sp>
        <p:nvSpPr>
          <p:cNvPr id="21" name="Rounded Rectangle 20"/>
          <p:cNvSpPr/>
          <p:nvPr/>
        </p:nvSpPr>
        <p:spPr>
          <a:xfrm>
            <a:off x="548640" y="3922776"/>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3922776"/>
            <a:ext cx="603504" cy="603504"/>
          </a:xfrm>
          <a:prstGeom prst="round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3986784"/>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4</a:t>
            </a:r>
          </a:p>
        </p:txBody>
      </p:sp>
      <p:sp>
        <p:nvSpPr>
          <p:cNvPr id="24" name="TextBox 23"/>
          <p:cNvSpPr txBox="1"/>
          <p:nvPr/>
        </p:nvSpPr>
        <p:spPr>
          <a:xfrm>
            <a:off x="1325880" y="3968496"/>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C8AA6E"/>
                </a:solidFill>
                <a:latin typeface="Calibri"/>
              </a:rPr>
              <a:t>Traçabilité MLflow</a:t>
            </a:r>
          </a:p>
        </p:txBody>
      </p:sp>
      <p:sp>
        <p:nvSpPr>
          <p:cNvPr id="25" name="TextBox 24"/>
          <p:cNvSpPr txBox="1"/>
          <p:nvPr/>
        </p:nvSpPr>
        <p:spPr>
          <a:xfrm>
            <a:off x="3611880" y="3968496"/>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runs + versions du registry</a:t>
            </a:r>
          </a:p>
        </p:txBody>
      </p:sp>
      <p:sp>
        <p:nvSpPr>
          <p:cNvPr id="26" name="Rounded Rectangle 25"/>
          <p:cNvSpPr/>
          <p:nvPr/>
        </p:nvSpPr>
        <p:spPr>
          <a:xfrm>
            <a:off x="548640" y="4636008"/>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48640" y="4636008"/>
            <a:ext cx="603504" cy="603504"/>
          </a:xfrm>
          <a:prstGeom prst="round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4700016"/>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5</a:t>
            </a:r>
          </a:p>
        </p:txBody>
      </p:sp>
      <p:sp>
        <p:nvSpPr>
          <p:cNvPr id="29" name="TextBox 28"/>
          <p:cNvSpPr txBox="1"/>
          <p:nvPr/>
        </p:nvSpPr>
        <p:spPr>
          <a:xfrm>
            <a:off x="1325880" y="4681728"/>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E84B55"/>
                </a:solidFill>
                <a:latin typeface="Calibri"/>
              </a:rPr>
              <a:t>Monitoring Grafana</a:t>
            </a:r>
          </a:p>
        </p:txBody>
      </p:sp>
      <p:sp>
        <p:nvSpPr>
          <p:cNvPr id="30" name="TextBox 29"/>
          <p:cNvSpPr txBox="1"/>
          <p:nvPr/>
        </p:nvSpPr>
        <p:spPr>
          <a:xfrm>
            <a:off x="3611880" y="4681728"/>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dashboard bouge quand on prédit</a:t>
            </a:r>
          </a:p>
        </p:txBody>
      </p:sp>
      <p:sp>
        <p:nvSpPr>
          <p:cNvPr id="31" name="Rounded Rectangle 30"/>
          <p:cNvSpPr/>
          <p:nvPr/>
        </p:nvSpPr>
        <p:spPr>
          <a:xfrm>
            <a:off x="548640" y="5349240"/>
            <a:ext cx="6858000" cy="6035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48640" y="5349240"/>
            <a:ext cx="603504" cy="603504"/>
          </a:xfrm>
          <a:prstGeom prst="round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5413248"/>
            <a:ext cx="603504" cy="45720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800" b="1">
                <a:solidFill>
                  <a:srgbClr val="0A1428"/>
                </a:solidFill>
                <a:latin typeface="Calibri"/>
              </a:rPr>
              <a:t>6</a:t>
            </a:r>
          </a:p>
        </p:txBody>
      </p:sp>
      <p:sp>
        <p:nvSpPr>
          <p:cNvPr id="34" name="TextBox 33"/>
          <p:cNvSpPr txBox="1"/>
          <p:nvPr/>
        </p:nvSpPr>
        <p:spPr>
          <a:xfrm>
            <a:off x="1325880" y="5394960"/>
            <a:ext cx="228600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50" b="1">
                <a:solidFill>
                  <a:srgbClr val="E84B55"/>
                </a:solidFill>
                <a:latin typeface="Calibri"/>
              </a:rPr>
              <a:t>Dérive + retrain</a:t>
            </a:r>
          </a:p>
        </p:txBody>
      </p:sp>
      <p:sp>
        <p:nvSpPr>
          <p:cNvPr id="35" name="TextBox 34"/>
          <p:cNvSpPr txBox="1"/>
          <p:nvPr/>
        </p:nvSpPr>
        <p:spPr>
          <a:xfrm>
            <a:off x="3611880" y="5394960"/>
            <a:ext cx="3703320" cy="512064"/>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150" b="0">
                <a:solidFill>
                  <a:srgbClr val="F0E6D2"/>
                </a:solidFill>
                <a:latin typeface="Calibri"/>
              </a:rPr>
              <a:t>make drift puis make retrain (décision)</a:t>
            </a:r>
          </a:p>
        </p:txBody>
      </p:sp>
      <p:sp>
        <p:nvSpPr>
          <p:cNvPr id="36" name="Rounded Rectangle 35"/>
          <p:cNvSpPr/>
          <p:nvPr/>
        </p:nvSpPr>
        <p:spPr>
          <a:xfrm>
            <a:off x="7635240" y="1737360"/>
            <a:ext cx="3977639" cy="4160520"/>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18120" y="1828800"/>
            <a:ext cx="3657600" cy="27432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100" b="1">
                <a:solidFill>
                  <a:srgbClr val="C8AA6E"/>
                </a:solidFill>
                <a:latin typeface="Calibri"/>
              </a:rPr>
              <a:t>APERÇU — page Prédiction</a:t>
            </a:r>
          </a:p>
        </p:txBody>
      </p:sp>
      <p:pic>
        <p:nvPicPr>
          <p:cNvPr id="38" name="Picture 37" descr="prg-3-prediction.png"/>
          <p:cNvPicPr>
            <a:picLocks noChangeAspect="1"/>
          </p:cNvPicPr>
          <p:nvPr/>
        </p:nvPicPr>
        <p:blipFill>
          <a:blip r:embed="rId2"/>
          <a:stretch>
            <a:fillRect/>
          </a:stretch>
        </p:blipFill>
        <p:spPr>
          <a:xfrm>
            <a:off x="7818120" y="2194560"/>
            <a:ext cx="3611880" cy="3563722"/>
          </a:xfrm>
          <a:prstGeom prst="rect">
            <a:avLst/>
          </a:prstGeom>
        </p:spPr>
      </p:pic>
      <p:sp>
        <p:nvSpPr>
          <p:cNvPr id="39" name="TextBox 38"/>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40" name="TextBox 39"/>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6 · BILAN</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Ce qui a été livré</a:t>
            </a:r>
          </a:p>
        </p:txBody>
      </p:sp>
      <p:sp>
        <p:nvSpPr>
          <p:cNvPr id="6" name="Rounded Rectangle 5"/>
          <p:cNvSpPr/>
          <p:nvPr/>
        </p:nvSpPr>
        <p:spPr>
          <a:xfrm>
            <a:off x="548640" y="1783080"/>
            <a:ext cx="3593592" cy="1417320"/>
          </a:xfrm>
          <a:prstGeom prst="roundRect">
            <a:avLst/>
          </a:prstGeom>
          <a:solidFill>
            <a:srgbClr val="10203C"/>
          </a:solidFill>
          <a:ln w="12700">
            <a:solidFill>
              <a:srgbClr val="0AC8B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745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0AC8B9"/>
                </a:solidFill>
                <a:latin typeface="Calibri"/>
              </a:rPr>
              <a:t>6</a:t>
            </a:r>
          </a:p>
        </p:txBody>
      </p:sp>
      <p:sp>
        <p:nvSpPr>
          <p:cNvPr id="8" name="TextBox 7"/>
          <p:cNvSpPr txBox="1"/>
          <p:nvPr/>
        </p:nvSpPr>
        <p:spPr>
          <a:xfrm>
            <a:off x="2240280" y="17830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services Docker
orchestrés</a:t>
            </a:r>
          </a:p>
        </p:txBody>
      </p:sp>
      <p:sp>
        <p:nvSpPr>
          <p:cNvPr id="9" name="Rounded Rectangle 8"/>
          <p:cNvSpPr/>
          <p:nvPr/>
        </p:nvSpPr>
        <p:spPr>
          <a:xfrm>
            <a:off x="4251960" y="1783080"/>
            <a:ext cx="3593592" cy="1417320"/>
          </a:xfrm>
          <a:prstGeom prst="roundRect">
            <a:avLst/>
          </a:prstGeom>
          <a:solidFill>
            <a:srgbClr val="10203C"/>
          </a:solidFill>
          <a:ln w="12700">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8745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4CC97E"/>
                </a:solidFill>
                <a:latin typeface="Calibri"/>
              </a:rPr>
              <a:t>47</a:t>
            </a:r>
          </a:p>
        </p:txBody>
      </p:sp>
      <p:sp>
        <p:nvSpPr>
          <p:cNvPr id="11" name="TextBox 10"/>
          <p:cNvSpPr txBox="1"/>
          <p:nvPr/>
        </p:nvSpPr>
        <p:spPr>
          <a:xfrm>
            <a:off x="5943600" y="17830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tests verts
offline (CI)</a:t>
            </a:r>
          </a:p>
        </p:txBody>
      </p:sp>
      <p:sp>
        <p:nvSpPr>
          <p:cNvPr id="12" name="Rounded Rectangle 11"/>
          <p:cNvSpPr/>
          <p:nvPr/>
        </p:nvSpPr>
        <p:spPr>
          <a:xfrm>
            <a:off x="7955280" y="1783080"/>
            <a:ext cx="3593592" cy="1417320"/>
          </a:xfrm>
          <a:prstGeom prst="roundRect">
            <a:avLst/>
          </a:prstGeom>
          <a:solidFill>
            <a:srgbClr val="10203C"/>
          </a:solidFill>
          <a:ln w="1270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8745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C8AA6E"/>
                </a:solidFill>
                <a:latin typeface="Calibri"/>
              </a:rPr>
              <a:t>5</a:t>
            </a:r>
          </a:p>
        </p:txBody>
      </p:sp>
      <p:sp>
        <p:nvSpPr>
          <p:cNvPr id="14" name="TextBox 13"/>
          <p:cNvSpPr txBox="1"/>
          <p:nvPr/>
        </p:nvSpPr>
        <p:spPr>
          <a:xfrm>
            <a:off x="9646920" y="17830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modèles servis
(draft + timeline)</a:t>
            </a:r>
          </a:p>
        </p:txBody>
      </p:sp>
      <p:sp>
        <p:nvSpPr>
          <p:cNvPr id="15" name="Rounded Rectangle 14"/>
          <p:cNvSpPr/>
          <p:nvPr/>
        </p:nvSpPr>
        <p:spPr>
          <a:xfrm>
            <a:off x="548640" y="3383280"/>
            <a:ext cx="3593592" cy="1417320"/>
          </a:xfrm>
          <a:prstGeom prst="roundRect">
            <a:avLst/>
          </a:prstGeom>
          <a:solidFill>
            <a:srgbClr val="10203C"/>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4747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3D9DF3"/>
                </a:solidFill>
                <a:latin typeface="Calibri"/>
              </a:rPr>
              <a:t>3</a:t>
            </a:r>
          </a:p>
        </p:txBody>
      </p:sp>
      <p:sp>
        <p:nvSpPr>
          <p:cNvPr id="17" name="TextBox 16"/>
          <p:cNvSpPr txBox="1"/>
          <p:nvPr/>
        </p:nvSpPr>
        <p:spPr>
          <a:xfrm>
            <a:off x="2240280" y="33832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jobs CI
lint·test·build</a:t>
            </a:r>
          </a:p>
        </p:txBody>
      </p:sp>
      <p:sp>
        <p:nvSpPr>
          <p:cNvPr id="18" name="Rounded Rectangle 17"/>
          <p:cNvSpPr/>
          <p:nvPr/>
        </p:nvSpPr>
        <p:spPr>
          <a:xfrm>
            <a:off x="4251960" y="3383280"/>
            <a:ext cx="3593592" cy="1417320"/>
          </a:xfrm>
          <a:prstGeom prst="roundRect">
            <a:avLst/>
          </a:prstGeom>
          <a:solidFill>
            <a:srgbClr val="10203C"/>
          </a:solidFill>
          <a:ln w="12700">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60" y="34747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E84B55"/>
                </a:solidFill>
                <a:latin typeface="Calibri"/>
              </a:rPr>
              <a:t>0.89</a:t>
            </a:r>
          </a:p>
        </p:txBody>
      </p:sp>
      <p:sp>
        <p:nvSpPr>
          <p:cNvPr id="20" name="TextBox 19"/>
          <p:cNvSpPr txBox="1"/>
          <p:nvPr/>
        </p:nvSpPr>
        <p:spPr>
          <a:xfrm>
            <a:off x="5943600" y="33832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ROC-AUC max
(@20 min)</a:t>
            </a:r>
          </a:p>
        </p:txBody>
      </p:sp>
      <p:sp>
        <p:nvSpPr>
          <p:cNvPr id="21" name="Rounded Rectangle 20"/>
          <p:cNvSpPr/>
          <p:nvPr/>
        </p:nvSpPr>
        <p:spPr>
          <a:xfrm>
            <a:off x="7955280" y="3383280"/>
            <a:ext cx="3593592" cy="1417320"/>
          </a:xfrm>
          <a:prstGeom prst="roundRect">
            <a:avLst/>
          </a:prstGeom>
          <a:solidFill>
            <a:srgbClr val="10203C"/>
          </a:solidFill>
          <a:ln w="12700">
            <a:solidFill>
              <a:srgbClr val="F0E6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80" y="3474720"/>
            <a:ext cx="1554480" cy="11887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3800" b="1">
                <a:solidFill>
                  <a:srgbClr val="F0E6D2"/>
                </a:solidFill>
                <a:latin typeface="Calibri"/>
              </a:rPr>
              <a:t>~32</a:t>
            </a:r>
          </a:p>
        </p:txBody>
      </p:sp>
      <p:sp>
        <p:nvSpPr>
          <p:cNvPr id="23" name="TextBox 22"/>
          <p:cNvSpPr txBox="1"/>
          <p:nvPr/>
        </p:nvSpPr>
        <p:spPr>
          <a:xfrm>
            <a:off x="9646920" y="3383280"/>
            <a:ext cx="1764792" cy="1417320"/>
          </a:xfrm>
          <a:prstGeom prst="rect">
            <a:avLst/>
          </a:prstGeom>
          <a:noFill/>
        </p:spPr>
        <p:txBody>
          <a:bodyPr wrap="square" anchor="ctr" lIns="25400" rIns="25400" tIns="12700" bIns="12700">
            <a:spAutoFit/>
          </a:bodyPr>
          <a:lstStyle/>
          <a:p>
            <a:pPr algn="l">
              <a:lnSpc>
                <a:spcPct val="100000"/>
              </a:lnSpc>
              <a:spcBef>
                <a:spcPts val="0"/>
              </a:spcBef>
              <a:spcAft>
                <a:spcPts val="600"/>
              </a:spcAft>
            </a:pPr>
            <a:r>
              <a:rPr sz="1300" b="1">
                <a:solidFill>
                  <a:srgbClr val="F0E6D2"/>
                </a:solidFill>
                <a:latin typeface="Calibri"/>
              </a:rPr>
              <a:t>ressources K8s
(kustomize)</a:t>
            </a:r>
          </a:p>
        </p:txBody>
      </p:sp>
      <p:sp>
        <p:nvSpPr>
          <p:cNvPr id="24" name="TextBox 23"/>
          <p:cNvSpPr txBox="1"/>
          <p:nvPr/>
        </p:nvSpPr>
        <p:spPr>
          <a:xfrm>
            <a:off x="548640" y="5806440"/>
            <a:ext cx="10972800" cy="365760"/>
          </a:xfrm>
          <a:prstGeom prst="rect">
            <a:avLst/>
          </a:prstGeom>
          <a:noFill/>
        </p:spPr>
        <p:txBody>
          <a:bodyPr wrap="square" anchor="t" lIns="25400" rIns="25400" tIns="12700" bIns="12700">
            <a:spAutoFit/>
          </a:bodyPr>
          <a:lstStyle/>
          <a:p>
            <a:pPr algn="ctr">
              <a:lnSpc>
                <a:spcPct val="100000"/>
              </a:lnSpc>
              <a:spcBef>
                <a:spcPts val="0"/>
              </a:spcBef>
              <a:spcAft>
                <a:spcPts val="600"/>
              </a:spcAft>
            </a:pPr>
            <a:r>
              <a:rPr sz="1250" b="1">
                <a:solidFill>
                  <a:srgbClr val="A09B8C"/>
                </a:solidFill>
                <a:latin typeface="Calibri"/>
              </a:rPr>
              <a:t>Un cycle MLOps complet : données → entraînement → tracking → versioning → serving → CI → monitoring → dérive.</a:t>
            </a:r>
          </a:p>
        </p:txBody>
      </p:sp>
      <p:sp>
        <p:nvSpPr>
          <p:cNvPr id="25" name="TextBox 24"/>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6" name="TextBox 25"/>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D9D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3D9DF3"/>
                </a:solidFill>
                <a:latin typeface="Calibri"/>
              </a:rPr>
              <a:t>7 · RECUL</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Limites assumées &amp; perspectives</a:t>
            </a:r>
          </a:p>
        </p:txBody>
      </p:sp>
      <p:sp>
        <p:nvSpPr>
          <p:cNvPr id="6" name="Rounded Rectangle 5"/>
          <p:cNvSpPr/>
          <p:nvPr/>
        </p:nvSpPr>
        <p:spPr>
          <a:xfrm>
            <a:off x="54864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LIMITES ASSUMÉES</a:t>
            </a:r>
          </a:p>
        </p:txBody>
      </p:sp>
      <p:sp>
        <p:nvSpPr>
          <p:cNvPr id="8" name="TextBox 7"/>
          <p:cNvSpPr txBox="1"/>
          <p:nvPr/>
        </p:nvSpPr>
        <p:spPr>
          <a:xfrm>
            <a:off x="868680" y="2377440"/>
            <a:ext cx="4937760" cy="3566160"/>
          </a:xfrm>
          <a:prstGeom prst="rect">
            <a:avLst/>
          </a:prstGeom>
          <a:noFill/>
        </p:spPr>
        <p:txBody>
          <a:bodyPr wrap="square">
            <a:spAutoFit/>
          </a:bodyPr>
          <a:lstStyle/>
          <a:p>
            <a:pPr>
              <a:lnSpc>
                <a:spcPct val="105000"/>
              </a:lnSpc>
              <a:spcBef>
                <a:spcPts val="0"/>
              </a:spcBef>
              <a:spcAft>
                <a:spcPts val="1100"/>
              </a:spcAft>
            </a:pPr>
            <a:r>
              <a:rPr sz="1300" b="1">
                <a:solidFill>
                  <a:srgbClr val="E84B55"/>
                </a:solidFill>
                <a:latin typeface="Calibri"/>
              </a:rPr>
              <a:t>▸ </a:t>
            </a:r>
            <a:r>
              <a:rPr sz="1300" b="1">
                <a:solidFill>
                  <a:srgbClr val="F0E6D2"/>
                </a:solidFill>
                <a:latin typeface="Calibri"/>
              </a:rPr>
              <a:t>84 features 'invocateur' neutres</a:t>
            </a:r>
            <a:r>
              <a:rPr sz="1200">
                <a:solidFill>
                  <a:srgbClr val="A09B8C"/>
                </a:solidFill>
                <a:latin typeface="Calibri"/>
              </a:rPr>
              <a:t>  —  pas de PUUID dans une requête de draft</a:t>
            </a:r>
          </a:p>
          <a:p>
            <a:pPr>
              <a:lnSpc>
                <a:spcPct val="105000"/>
              </a:lnSpc>
              <a:spcBef>
                <a:spcPts val="0"/>
              </a:spcBef>
              <a:spcAft>
                <a:spcPts val="1100"/>
              </a:spcAft>
            </a:pPr>
            <a:r>
              <a:rPr sz="1300" b="1">
                <a:solidFill>
                  <a:srgbClr val="E84B55"/>
                </a:solidFill>
                <a:latin typeface="Calibri"/>
              </a:rPr>
              <a:t>▸ </a:t>
            </a:r>
            <a:r>
              <a:rPr sz="1300" b="1">
                <a:solidFill>
                  <a:srgbClr val="F0E6D2"/>
                </a:solidFill>
                <a:latin typeface="Calibri"/>
              </a:rPr>
              <a:t>Draft ~0.54 par nature</a:t>
            </a:r>
            <a:r>
              <a:rPr sz="1200">
                <a:solidFill>
                  <a:srgbClr val="A09B8C"/>
                </a:solidFill>
                <a:latin typeface="Calibri"/>
              </a:rPr>
              <a:t>  —  peu de signal avant la partie</a:t>
            </a:r>
          </a:p>
          <a:p>
            <a:pPr>
              <a:lnSpc>
                <a:spcPct val="105000"/>
              </a:lnSpc>
              <a:spcBef>
                <a:spcPts val="0"/>
              </a:spcBef>
              <a:spcAft>
                <a:spcPts val="1100"/>
              </a:spcAft>
            </a:pPr>
            <a:r>
              <a:rPr sz="1300" b="1">
                <a:solidFill>
                  <a:srgbClr val="E84B55"/>
                </a:solidFill>
                <a:latin typeface="Calibri"/>
              </a:rPr>
              <a:t>▸ </a:t>
            </a:r>
            <a:r>
              <a:rPr sz="1300" b="1">
                <a:solidFill>
                  <a:srgbClr val="F0E6D2"/>
                </a:solidFill>
                <a:latin typeface="Calibri"/>
              </a:rPr>
              <a:t>K8s non déployé sur cluster live</a:t>
            </a:r>
            <a:r>
              <a:rPr sz="1200">
                <a:solidFill>
                  <a:srgbClr val="A09B8C"/>
                </a:solidFill>
                <a:latin typeface="Calibri"/>
              </a:rPr>
              <a:t>  —  manifests validés côté schéma seulement</a:t>
            </a:r>
          </a:p>
          <a:p>
            <a:pPr>
              <a:lnSpc>
                <a:spcPct val="105000"/>
              </a:lnSpc>
              <a:spcBef>
                <a:spcPts val="0"/>
              </a:spcBef>
              <a:spcAft>
                <a:spcPts val="1100"/>
              </a:spcAft>
            </a:pPr>
            <a:r>
              <a:rPr sz="1300" b="1">
                <a:solidFill>
                  <a:srgbClr val="E84B55"/>
                </a:solidFill>
                <a:latin typeface="Calibri"/>
              </a:rPr>
              <a:t>▸ </a:t>
            </a:r>
            <a:r>
              <a:rPr sz="1300" b="1">
                <a:solidFill>
                  <a:srgbClr val="F0E6D2"/>
                </a:solidFill>
                <a:latin typeface="Calibri"/>
              </a:rPr>
              <a:t>Lint CI non-bloquant</a:t>
            </a:r>
            <a:r>
              <a:rPr sz="1200">
                <a:solidFill>
                  <a:srgbClr val="A09B8C"/>
                </a:solidFill>
                <a:latin typeface="Calibri"/>
              </a:rPr>
              <a:t>  —  --exit-zero, dette pré-existante non réécrite</a:t>
            </a:r>
          </a:p>
          <a:p>
            <a:pPr>
              <a:lnSpc>
                <a:spcPct val="105000"/>
              </a:lnSpc>
              <a:spcBef>
                <a:spcPts val="0"/>
              </a:spcBef>
              <a:spcAft>
                <a:spcPts val="1100"/>
              </a:spcAft>
            </a:pPr>
            <a:r>
              <a:rPr sz="1300" b="1">
                <a:solidFill>
                  <a:srgbClr val="E84B55"/>
                </a:solidFill>
                <a:latin typeface="Calibri"/>
              </a:rPr>
              <a:t>▸ </a:t>
            </a:r>
            <a:r>
              <a:rPr sz="1300" b="1">
                <a:solidFill>
                  <a:srgbClr val="F0E6D2"/>
                </a:solidFill>
                <a:latin typeface="Calibri"/>
              </a:rPr>
              <a:t>Dérive démo = synthétique</a:t>
            </a:r>
            <a:r>
              <a:rPr sz="1200">
                <a:solidFill>
                  <a:srgbClr val="A09B8C"/>
                </a:solidFill>
                <a:latin typeface="Calibri"/>
              </a:rPr>
              <a:t>  —  version DB documentée, pas démontrée</a:t>
            </a:r>
          </a:p>
        </p:txBody>
      </p:sp>
      <p:sp>
        <p:nvSpPr>
          <p:cNvPr id="9" name="Rounded Rectangle 8"/>
          <p:cNvSpPr/>
          <p:nvPr/>
        </p:nvSpPr>
        <p:spPr>
          <a:xfrm>
            <a:off x="6172200" y="1691640"/>
            <a:ext cx="544068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874519"/>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PERSPECTIVES (backlog)</a:t>
            </a:r>
          </a:p>
        </p:txBody>
      </p:sp>
      <p:sp>
        <p:nvSpPr>
          <p:cNvPr id="11" name="TextBox 10"/>
          <p:cNvSpPr txBox="1"/>
          <p:nvPr/>
        </p:nvSpPr>
        <p:spPr>
          <a:xfrm>
            <a:off x="6492240" y="2377440"/>
            <a:ext cx="4937760" cy="3566160"/>
          </a:xfrm>
          <a:prstGeom prst="rect">
            <a:avLst/>
          </a:prstGeom>
          <a:noFill/>
        </p:spPr>
        <p:txBody>
          <a:bodyPr wrap="square">
            <a:spAutoFit/>
          </a:bodyPr>
          <a:lstStyle/>
          <a:p>
            <a:pPr>
              <a:lnSpc>
                <a:spcPct val="105000"/>
              </a:lnSpc>
              <a:spcBef>
                <a:spcPts val="0"/>
              </a:spcBef>
              <a:spcAft>
                <a:spcPts val="1100"/>
              </a:spcAft>
            </a:pPr>
            <a:r>
              <a:rPr sz="1300" b="1">
                <a:solidFill>
                  <a:srgbClr val="0AC8B9"/>
                </a:solidFill>
                <a:latin typeface="Calibri"/>
              </a:rPr>
              <a:t>▸ </a:t>
            </a:r>
            <a:r>
              <a:rPr sz="1300" b="1">
                <a:solidFill>
                  <a:srgbClr val="F0E6D2"/>
                </a:solidFill>
                <a:latin typeface="Calibri"/>
              </a:rPr>
              <a:t>Endpoint 'identity-aware'</a:t>
            </a:r>
            <a:r>
              <a:rPr sz="1200">
                <a:solidFill>
                  <a:srgbClr val="A09B8C"/>
                </a:solidFill>
                <a:latin typeface="Calibri"/>
              </a:rPr>
              <a:t>  —  câbler les ~84 features invocateur</a:t>
            </a:r>
          </a:p>
          <a:p>
            <a:pPr>
              <a:lnSpc>
                <a:spcPct val="105000"/>
              </a:lnSpc>
              <a:spcBef>
                <a:spcPts val="0"/>
              </a:spcBef>
              <a:spcAft>
                <a:spcPts val="1100"/>
              </a:spcAft>
            </a:pPr>
            <a:r>
              <a:rPr sz="1300" b="1">
                <a:solidFill>
                  <a:srgbClr val="0AC8B9"/>
                </a:solidFill>
                <a:latin typeface="Calibri"/>
              </a:rPr>
              <a:t>▸ </a:t>
            </a:r>
            <a:r>
              <a:rPr sz="1300" b="1">
                <a:solidFill>
                  <a:srgbClr val="F0E6D2"/>
                </a:solidFill>
                <a:latin typeface="Calibri"/>
              </a:rPr>
              <a:t>Promouvoir K8s en cluster live</a:t>
            </a:r>
            <a:r>
              <a:rPr sz="1200">
                <a:solidFill>
                  <a:srgbClr val="A09B8C"/>
                </a:solidFill>
                <a:latin typeface="Calibri"/>
              </a:rPr>
              <a:t>  —  registry, secrets, modèles via PVC</a:t>
            </a:r>
          </a:p>
          <a:p>
            <a:pPr>
              <a:lnSpc>
                <a:spcPct val="105000"/>
              </a:lnSpc>
              <a:spcBef>
                <a:spcPts val="0"/>
              </a:spcBef>
              <a:spcAft>
                <a:spcPts val="1100"/>
              </a:spcAft>
            </a:pPr>
            <a:r>
              <a:rPr sz="1300" b="1">
                <a:solidFill>
                  <a:srgbClr val="0AC8B9"/>
                </a:solidFill>
                <a:latin typeface="Calibri"/>
              </a:rPr>
              <a:t>▸ </a:t>
            </a:r>
            <a:r>
              <a:rPr sz="1300" b="1">
                <a:solidFill>
                  <a:srgbClr val="F0E6D2"/>
                </a:solidFill>
                <a:latin typeface="Calibri"/>
              </a:rPr>
              <a:t>Dérive branchée sur la DB</a:t>
            </a:r>
            <a:r>
              <a:rPr sz="1200">
                <a:solidFill>
                  <a:srgbClr val="A09B8C"/>
                </a:solidFill>
                <a:latin typeface="Calibri"/>
              </a:rPr>
              <a:t>  —  DRIFT_USE_DB=1 + retrain e2e</a:t>
            </a:r>
          </a:p>
          <a:p>
            <a:pPr>
              <a:lnSpc>
                <a:spcPct val="105000"/>
              </a:lnSpc>
              <a:spcBef>
                <a:spcPts val="0"/>
              </a:spcBef>
              <a:spcAft>
                <a:spcPts val="1100"/>
              </a:spcAft>
            </a:pPr>
            <a:r>
              <a:rPr sz="1300" b="1">
                <a:solidFill>
                  <a:srgbClr val="0AC8B9"/>
                </a:solidFill>
                <a:latin typeface="Calibri"/>
              </a:rPr>
              <a:t>▸ </a:t>
            </a:r>
            <a:r>
              <a:rPr sz="1300" b="1">
                <a:solidFill>
                  <a:srgbClr val="F0E6D2"/>
                </a:solidFill>
                <a:latin typeface="Calibri"/>
              </a:rPr>
              <a:t>Durcir le lint</a:t>
            </a:r>
            <a:r>
              <a:rPr sz="1200">
                <a:solidFill>
                  <a:srgbClr val="A09B8C"/>
                </a:solidFill>
                <a:latin typeface="Calibri"/>
              </a:rPr>
              <a:t>  —  passer ruff en bloquant</a:t>
            </a:r>
          </a:p>
          <a:p>
            <a:pPr>
              <a:lnSpc>
                <a:spcPct val="105000"/>
              </a:lnSpc>
              <a:spcBef>
                <a:spcPts val="0"/>
              </a:spcBef>
              <a:spcAft>
                <a:spcPts val="1100"/>
              </a:spcAft>
            </a:pPr>
            <a:r>
              <a:rPr sz="1300" b="1">
                <a:solidFill>
                  <a:srgbClr val="0AC8B9"/>
                </a:solidFill>
                <a:latin typeface="Calibri"/>
              </a:rPr>
              <a:t>▸ </a:t>
            </a:r>
            <a:r>
              <a:rPr sz="1300" b="1">
                <a:solidFill>
                  <a:srgbClr val="F0E6D2"/>
                </a:solidFill>
                <a:latin typeface="Calibri"/>
              </a:rPr>
              <a:t>Collecte Riot live</a:t>
            </a:r>
            <a:r>
              <a:rPr sz="1200">
                <a:solidFill>
                  <a:srgbClr val="A09B8C"/>
                </a:solidFill>
                <a:latin typeface="Calibri"/>
              </a:rPr>
              <a:t>  —  clé API pour données fraîches</a:t>
            </a:r>
          </a:p>
        </p:txBody>
      </p:sp>
      <p:sp>
        <p:nvSpPr>
          <p:cNvPr id="12" name="TextBox 11"/>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3" name="TextBox 12"/>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40280"/>
            <a:ext cx="12191695" cy="2286000"/>
          </a:xfrm>
          <a:prstGeom prst="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240280"/>
            <a:ext cx="12191695" cy="381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4498848"/>
            <a:ext cx="12191695" cy="381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1051560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4000" b="1">
                <a:solidFill>
                  <a:srgbClr val="C8AA6E"/>
                </a:solidFill>
                <a:latin typeface="Calibri"/>
              </a:rPr>
              <a:t>Merci de votre attention</a:t>
            </a:r>
          </a:p>
        </p:txBody>
      </p:sp>
      <p:sp>
        <p:nvSpPr>
          <p:cNvPr id="7" name="TextBox 6"/>
          <p:cNvSpPr txBox="1"/>
          <p:nvPr/>
        </p:nvSpPr>
        <p:spPr>
          <a:xfrm>
            <a:off x="841248" y="3474720"/>
            <a:ext cx="10607040" cy="5486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600" b="0">
                <a:solidFill>
                  <a:srgbClr val="F0E6D2"/>
                </a:solidFill>
                <a:latin typeface="Calibri"/>
              </a:rPr>
              <a:t>Un pipeline MLOps complet : des données à la production, monitoring et dérive inclus.</a:t>
            </a:r>
          </a:p>
        </p:txBody>
      </p:sp>
      <p:sp>
        <p:nvSpPr>
          <p:cNvPr id="8" name="TextBox 7"/>
          <p:cNvSpPr txBox="1"/>
          <p:nvPr/>
        </p:nvSpPr>
        <p:spPr>
          <a:xfrm>
            <a:off x="822960" y="4892040"/>
            <a:ext cx="10515600" cy="45720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800" b="1">
                <a:solidFill>
                  <a:srgbClr val="0AC8B9"/>
                </a:solidFill>
                <a:latin typeface="Calibri"/>
              </a:rPr>
              <a:t>Place à vos questions</a:t>
            </a:r>
          </a:p>
        </p:txBody>
      </p:sp>
      <p:sp>
        <p:nvSpPr>
          <p:cNvPr id="9" name="TextBox 8"/>
          <p:cNvSpPr txBox="1"/>
          <p:nvPr/>
        </p:nvSpPr>
        <p:spPr>
          <a:xfrm>
            <a:off x="822960" y="5943600"/>
            <a:ext cx="105156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0">
                <a:solidFill>
                  <a:srgbClr val="A09B8C"/>
                </a:solidFill>
                <a:latin typeface="Calibri"/>
              </a:rPr>
              <a:t>LoL Draft Predictor · Aïssam · Samuel · Guilhem · DataScientest ·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ANNEXE · Q/R JURY</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Questions probables (1/2)</a:t>
            </a:r>
          </a:p>
        </p:txBody>
      </p:sp>
      <p:sp>
        <p:nvSpPr>
          <p:cNvPr id="6" name="Rounded Rectangle 5"/>
          <p:cNvSpPr/>
          <p:nvPr/>
        </p:nvSpPr>
        <p:spPr>
          <a:xfrm>
            <a:off x="548640" y="169164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Pourquoi le modèle de draft n'est qu'à 54% ?</a:t>
            </a:r>
          </a:p>
        </p:txBody>
      </p:sp>
      <p:sp>
        <p:nvSpPr>
          <p:cNvPr id="9" name="TextBox 8"/>
          <p:cNvSpPr txBox="1"/>
          <p:nvPr/>
        </p:nvSpPr>
        <p:spPr>
          <a:xfrm>
            <a:off x="822960" y="214884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Avant la partie, le seul signal est la composition ; et nos ~84 features 'invocateur' sont neutres faute de PUUID. C'est attendu — les modèles timeline montent jusqu'à 0.89 d'AUC à 20 min.</a:t>
            </a:r>
          </a:p>
        </p:txBody>
      </p:sp>
      <p:sp>
        <p:nvSpPr>
          <p:cNvPr id="10" name="Rounded Rectangle 9"/>
          <p:cNvSpPr/>
          <p:nvPr/>
        </p:nvSpPr>
        <p:spPr>
          <a:xfrm>
            <a:off x="548640" y="288036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8036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7180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Comment garantissez-vous la reproductibilité ?</a:t>
            </a:r>
          </a:p>
        </p:txBody>
      </p:sp>
      <p:sp>
        <p:nvSpPr>
          <p:cNvPr id="13" name="TextBox 12"/>
          <p:cNvSpPr txBox="1"/>
          <p:nvPr/>
        </p:nvSpPr>
        <p:spPr>
          <a:xfrm>
            <a:off x="822960" y="333756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Tout est dockerisé (6 services), .env.example fourni, données versionnées (DVC) et modèles versionnés (MLflow Registry) ; 47 tests tournent sans Docker ni DB pour prouver que la chaîne est saine.</a:t>
            </a:r>
          </a:p>
        </p:txBody>
      </p:sp>
      <p:sp>
        <p:nvSpPr>
          <p:cNvPr id="14" name="Rounded Rectangle 13"/>
          <p:cNvSpPr/>
          <p:nvPr/>
        </p:nvSpPr>
        <p:spPr>
          <a:xfrm>
            <a:off x="548640" y="406908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6908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6052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Que se passe-t-il si MLflow ou Prometheus sont absents ?</a:t>
            </a:r>
          </a:p>
        </p:txBody>
      </p:sp>
      <p:sp>
        <p:nvSpPr>
          <p:cNvPr id="17" name="TextBox 16"/>
          <p:cNvSpPr txBox="1"/>
          <p:nvPr/>
        </p:nvSpPr>
        <p:spPr>
          <a:xfrm>
            <a:off x="822960" y="452628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Wrapper fail-safe : MLflow/Prometheus/Evidently dégradent en NO-OP (avec fast-fail). L'inférence et les 47 tests ne cassent jamais — c'est couvert par 11 tests dédiés.</a:t>
            </a:r>
          </a:p>
        </p:txBody>
      </p:sp>
      <p:sp>
        <p:nvSpPr>
          <p:cNvPr id="18" name="Rounded Rectangle 17"/>
          <p:cNvSpPr/>
          <p:nvPr/>
        </p:nvSpPr>
        <p:spPr>
          <a:xfrm>
            <a:off x="548640" y="525780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5780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4924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Pourquoi pas d'orchestrateur type Airflow ?</a:t>
            </a:r>
          </a:p>
        </p:txBody>
      </p:sp>
      <p:sp>
        <p:nvSpPr>
          <p:cNvPr id="21" name="TextBox 20"/>
          <p:cNvSpPr txBox="1"/>
          <p:nvPr/>
        </p:nvSpPr>
        <p:spPr>
          <a:xfrm>
            <a:off x="822960" y="571500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L'orchestration e2e passe par un Makefile (make demo) + DVC pour la pipeline data. Suffisant pour le périmètre ; Airflow/Argo serait l'étape suivante sur le cluster K8s.</a:t>
            </a:r>
          </a:p>
        </p:txBody>
      </p:sp>
      <p:sp>
        <p:nvSpPr>
          <p:cNvPr id="22" name="TextBox 21"/>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3" name="TextBox 22"/>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21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ANNEXE · Q/R JURY</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Questions probables (2/2)</a:t>
            </a:r>
          </a:p>
        </p:txBody>
      </p:sp>
      <p:sp>
        <p:nvSpPr>
          <p:cNvPr id="6" name="Rounded Rectangle 5"/>
          <p:cNvSpPr/>
          <p:nvPr/>
        </p:nvSpPr>
        <p:spPr>
          <a:xfrm>
            <a:off x="548640" y="169164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78308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Comment l'API choisit-elle le bon modèle ?</a:t>
            </a:r>
          </a:p>
        </p:txBody>
      </p:sp>
      <p:sp>
        <p:nvSpPr>
          <p:cNvPr id="9" name="TextBox 8"/>
          <p:cNvSpPr txBox="1"/>
          <p:nvPr/>
        </p:nvSpPr>
        <p:spPr>
          <a:xfrm>
            <a:off x="822960" y="214884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Les modèles sont chargés depuis le volume partagé (seed) ; /models les liste, /predict/at/{min} route vers le modèle de la minute. Le Registry MLflow versionne les promotions.</a:t>
            </a:r>
          </a:p>
        </p:txBody>
      </p:sp>
      <p:sp>
        <p:nvSpPr>
          <p:cNvPr id="10" name="Rounded Rectangle 9"/>
          <p:cNvSpPr/>
          <p:nvPr/>
        </p:nvSpPr>
        <p:spPr>
          <a:xfrm>
            <a:off x="548640" y="288036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8036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97180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La prédiction de draft est-elle vraiment dynamique ?</a:t>
            </a:r>
          </a:p>
        </p:txBody>
      </p:sp>
      <p:sp>
        <p:nvSpPr>
          <p:cNvPr id="13" name="TextBox 12"/>
          <p:cNvSpPr txBox="1"/>
          <p:nvPr/>
        </p:nvSpPr>
        <p:spPr>
          <a:xfrm>
            <a:off x="822960" y="333756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Oui : ~69 features champion (winrate/tier/synergie/counter) sont construites à la volée depuis les tables du .pkl. Deux drafts différentes → 0.536 vs 0.725, par exemple.</a:t>
            </a:r>
          </a:p>
        </p:txBody>
      </p:sp>
      <p:sp>
        <p:nvSpPr>
          <p:cNvPr id="14" name="Rounded Rectangle 13"/>
          <p:cNvSpPr/>
          <p:nvPr/>
        </p:nvSpPr>
        <p:spPr>
          <a:xfrm>
            <a:off x="548640" y="406908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406908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6052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Kubernetes est-il réellement déployé ?</a:t>
            </a:r>
          </a:p>
        </p:txBody>
      </p:sp>
      <p:sp>
        <p:nvSpPr>
          <p:cNvPr id="17" name="TextBox 16"/>
          <p:cNvSpPr txBox="1"/>
          <p:nvPr/>
        </p:nvSpPr>
        <p:spPr>
          <a:xfrm>
            <a:off x="822960" y="452628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Non — manifests complets en kustomize (~32 ressources) validés par kubeconform, mais la démo tourne sur Docker Compose. K8s est l'environnement cible, hors démo. Nous l'assumons.</a:t>
            </a:r>
          </a:p>
        </p:txBody>
      </p:sp>
      <p:sp>
        <p:nvSpPr>
          <p:cNvPr id="18" name="Rounded Rectangle 17"/>
          <p:cNvSpPr/>
          <p:nvPr/>
        </p:nvSpPr>
        <p:spPr>
          <a:xfrm>
            <a:off x="548640" y="5257800"/>
            <a:ext cx="11064240" cy="1060704"/>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257800"/>
            <a:ext cx="109728" cy="1060704"/>
          </a:xfrm>
          <a:prstGeom prst="rect">
            <a:avLst/>
          </a:prstGeom>
          <a:solidFill>
            <a:srgbClr val="C8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5349240"/>
            <a:ext cx="1060704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Q · </a:t>
            </a:r>
            <a:r>
              <a:rPr sz="1300" b="1">
                <a:solidFill>
                  <a:srgbClr val="F0E6D2"/>
                </a:solidFill>
                <a:latin typeface="Calibri"/>
              </a:rPr>
              <a:t>Pourquoi Prometheus/Grafana plutôt que MLflow pour le suivi ?</a:t>
            </a:r>
          </a:p>
        </p:txBody>
      </p:sp>
      <p:sp>
        <p:nvSpPr>
          <p:cNvPr id="21" name="TextBox 20"/>
          <p:cNvSpPr txBox="1"/>
          <p:nvPr/>
        </p:nvSpPr>
        <p:spPr>
          <a:xfrm>
            <a:off x="822960" y="5715000"/>
            <a:ext cx="10607040" cy="56692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00" b="1">
                <a:solidFill>
                  <a:srgbClr val="0AC8B9"/>
                </a:solidFill>
                <a:latin typeface="Calibri"/>
              </a:rPr>
              <a:t>R · </a:t>
            </a:r>
            <a:r>
              <a:rPr sz="1200" b="0">
                <a:solidFill>
                  <a:srgbClr val="A09B8C"/>
                </a:solidFill>
                <a:latin typeface="Calibri"/>
              </a:rPr>
              <a:t>MLflow trace l'entraînement (offline) ; Prometheus/Grafana supervisent le service en temps réel (trafic, latence, lol_predictions_total). Deux temporalités complémentaires.</a:t>
            </a:r>
          </a:p>
        </p:txBody>
      </p:sp>
      <p:sp>
        <p:nvSpPr>
          <p:cNvPr id="22" name="TextBox 21"/>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23" name="TextBox 22"/>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84B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ANNEXE · DÉTAIL TECHNIQUE</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Drift &amp; auto-retrain — comment ça marche</a:t>
            </a:r>
          </a:p>
        </p:txBody>
      </p:sp>
      <p:sp>
        <p:nvSpPr>
          <p:cNvPr id="6" name="Rounded Rectangle 5"/>
          <p:cNvSpPr/>
          <p:nvPr/>
        </p:nvSpPr>
        <p:spPr>
          <a:xfrm>
            <a:off x="548640" y="1691640"/>
            <a:ext cx="5486400" cy="4389120"/>
          </a:xfrm>
          <a:prstGeom prst="roundRect">
            <a:avLst/>
          </a:prstGeom>
          <a:solidFill>
            <a:srgbClr val="1020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874519"/>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E84B55"/>
                </a:solidFill>
                <a:latin typeface="Calibri"/>
              </a:rPr>
              <a:t>A · DÉTECTION — drift_report.py</a:t>
            </a:r>
          </a:p>
        </p:txBody>
      </p:sp>
      <p:sp>
        <p:nvSpPr>
          <p:cNvPr id="8" name="TextBox 7"/>
          <p:cNvSpPr txBox="1"/>
          <p:nvPr/>
        </p:nvSpPr>
        <p:spPr>
          <a:xfrm>
            <a:off x="868680" y="2286000"/>
            <a:ext cx="4937760" cy="1737360"/>
          </a:xfrm>
          <a:prstGeom prst="rect">
            <a:avLst/>
          </a:prstGeom>
          <a:noFill/>
        </p:spPr>
        <p:txBody>
          <a:bodyPr wrap="square">
            <a:spAutoFit/>
          </a:bodyPr>
          <a:lstStyle/>
          <a:p>
            <a:pPr>
              <a:lnSpc>
                <a:spcPct val="105000"/>
              </a:lnSpc>
              <a:spcBef>
                <a:spcPts val="0"/>
              </a:spcBef>
              <a:spcAft>
                <a:spcPts val="800"/>
              </a:spcAft>
            </a:pPr>
            <a:r>
              <a:rPr sz="1250" b="1">
                <a:solidFill>
                  <a:srgbClr val="E84B55"/>
                </a:solidFill>
                <a:latin typeface="Calibri"/>
              </a:rPr>
              <a:t>▸ </a:t>
            </a:r>
            <a:r>
              <a:rPr sz="1250" b="1">
                <a:solidFill>
                  <a:srgbClr val="F0E6D2"/>
                </a:solidFill>
                <a:latin typeface="Calibri"/>
              </a:rPr>
              <a:t>reference vs current</a:t>
            </a:r>
            <a:r>
              <a:rPr sz="1150">
                <a:solidFill>
                  <a:srgbClr val="A09B8C"/>
                </a:solidFill>
                <a:latin typeface="Calibri"/>
              </a:rPr>
              <a:t>  —  train vs récent · split temporel 70/30 (match_id)</a:t>
            </a:r>
          </a:p>
          <a:p>
            <a:pPr>
              <a:lnSpc>
                <a:spcPct val="105000"/>
              </a:lnSpc>
              <a:spcBef>
                <a:spcPts val="0"/>
              </a:spcBef>
              <a:spcAft>
                <a:spcPts val="800"/>
              </a:spcAft>
            </a:pPr>
            <a:r>
              <a:rPr sz="1250" b="1">
                <a:solidFill>
                  <a:srgbClr val="E84B55"/>
                </a:solidFill>
                <a:latin typeface="Calibri"/>
              </a:rPr>
              <a:t>▸ </a:t>
            </a:r>
            <a:r>
              <a:rPr sz="1250" b="1">
                <a:solidFill>
                  <a:srgbClr val="F0E6D2"/>
                </a:solidFill>
                <a:latin typeface="Calibri"/>
              </a:rPr>
              <a:t>6 features numériques</a:t>
            </a:r>
            <a:r>
              <a:rPr sz="1150">
                <a:solidFill>
                  <a:srgbClr val="A09B8C"/>
                </a:solidFill>
                <a:latin typeface="Calibri"/>
              </a:rPr>
              <a:t>  —  gold_diff_at_10 + 5 gold diffs par rôle @10</a:t>
            </a:r>
          </a:p>
          <a:p>
            <a:pPr>
              <a:lnSpc>
                <a:spcPct val="105000"/>
              </a:lnSpc>
              <a:spcBef>
                <a:spcPts val="0"/>
              </a:spcBef>
              <a:spcAft>
                <a:spcPts val="800"/>
              </a:spcAft>
            </a:pPr>
            <a:r>
              <a:rPr sz="1250" b="1">
                <a:solidFill>
                  <a:srgbClr val="E84B55"/>
                </a:solidFill>
                <a:latin typeface="Calibri"/>
              </a:rPr>
              <a:t>▸ </a:t>
            </a:r>
            <a:r>
              <a:rPr sz="1250" b="1">
                <a:solidFill>
                  <a:srgbClr val="F0E6D2"/>
                </a:solidFill>
                <a:latin typeface="Calibri"/>
              </a:rPr>
              <a:t>Evidently DataDriftPreset</a:t>
            </a:r>
            <a:r>
              <a:rPr sz="1150">
                <a:solidFill>
                  <a:srgbClr val="A09B8C"/>
                </a:solidFill>
                <a:latin typeface="Calibri"/>
              </a:rPr>
              <a:t>  —  → drift_share (0-1) + rapport HTML/JSON</a:t>
            </a:r>
          </a:p>
        </p:txBody>
      </p:sp>
      <p:sp>
        <p:nvSpPr>
          <p:cNvPr id="9" name="TextBox 8"/>
          <p:cNvSpPr txBox="1"/>
          <p:nvPr/>
        </p:nvSpPr>
        <p:spPr>
          <a:xfrm>
            <a:off x="868680" y="3977639"/>
            <a:ext cx="493776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C8AA6E"/>
                </a:solidFill>
                <a:latin typeface="Calibri"/>
              </a:rPr>
              <a:t>B · DÉCISION — auto_retrain.py</a:t>
            </a:r>
          </a:p>
        </p:txBody>
      </p:sp>
      <p:sp>
        <p:nvSpPr>
          <p:cNvPr id="10" name="TextBox 9"/>
          <p:cNvSpPr txBox="1"/>
          <p:nvPr/>
        </p:nvSpPr>
        <p:spPr>
          <a:xfrm>
            <a:off x="868680" y="4389120"/>
            <a:ext cx="4937760" cy="1554480"/>
          </a:xfrm>
          <a:prstGeom prst="rect">
            <a:avLst/>
          </a:prstGeom>
          <a:noFill/>
        </p:spPr>
        <p:txBody>
          <a:bodyPr wrap="square">
            <a:spAutoFit/>
          </a:bodyPr>
          <a:lstStyle/>
          <a:p>
            <a:pPr>
              <a:lnSpc>
                <a:spcPct val="105000"/>
              </a:lnSpc>
              <a:spcBef>
                <a:spcPts val="0"/>
              </a:spcBef>
              <a:spcAft>
                <a:spcPts val="800"/>
              </a:spcAft>
            </a:pPr>
            <a:r>
              <a:rPr sz="1250" b="1">
                <a:solidFill>
                  <a:srgbClr val="C8AA6E"/>
                </a:solidFill>
                <a:latin typeface="Calibri"/>
              </a:rPr>
              <a:t>▸ </a:t>
            </a:r>
            <a:r>
              <a:rPr sz="1250" b="1">
                <a:solidFill>
                  <a:srgbClr val="F0E6D2"/>
                </a:solidFill>
                <a:latin typeface="Calibri"/>
              </a:rPr>
              <a:t>drift_share &gt; 0.5 → RETRAIN</a:t>
            </a:r>
            <a:r>
              <a:rPr sz="1150">
                <a:solidFill>
                  <a:srgbClr val="A09B8C"/>
                </a:solidFill>
                <a:latin typeface="Calibri"/>
              </a:rPr>
              <a:t>  —  docker compose run --rm training</a:t>
            </a:r>
          </a:p>
          <a:p>
            <a:pPr>
              <a:lnSpc>
                <a:spcPct val="105000"/>
              </a:lnSpc>
              <a:spcBef>
                <a:spcPts val="0"/>
              </a:spcBef>
              <a:spcAft>
                <a:spcPts val="800"/>
              </a:spcAft>
            </a:pPr>
            <a:r>
              <a:rPr sz="1250" b="1">
                <a:solidFill>
                  <a:srgbClr val="C8AA6E"/>
                </a:solidFill>
                <a:latin typeface="Calibri"/>
              </a:rPr>
              <a:t>▸ </a:t>
            </a:r>
            <a:r>
              <a:rPr sz="1250" b="1">
                <a:solidFill>
                  <a:srgbClr val="F0E6D2"/>
                </a:solidFill>
                <a:latin typeface="Calibri"/>
              </a:rPr>
              <a:t>sinon → NO-OP</a:t>
            </a:r>
            <a:r>
              <a:rPr sz="1150">
                <a:solidFill>
                  <a:srgbClr val="A09B8C"/>
                </a:solidFill>
                <a:latin typeface="Calibri"/>
              </a:rPr>
              <a:t>  —  idempotent · seuil via DRIFT_THRESHOLD</a:t>
            </a:r>
          </a:p>
          <a:p>
            <a:pPr>
              <a:lnSpc>
                <a:spcPct val="105000"/>
              </a:lnSpc>
              <a:spcBef>
                <a:spcPts val="0"/>
              </a:spcBef>
              <a:spcAft>
                <a:spcPts val="800"/>
              </a:spcAft>
            </a:pPr>
            <a:r>
              <a:rPr sz="1250" b="1">
                <a:solidFill>
                  <a:srgbClr val="C8AA6E"/>
                </a:solidFill>
                <a:latin typeface="Calibri"/>
              </a:rPr>
              <a:t>▸ </a:t>
            </a:r>
            <a:r>
              <a:rPr sz="1250" b="1">
                <a:solidFill>
                  <a:srgbClr val="F0E6D2"/>
                </a:solidFill>
                <a:latin typeface="Calibri"/>
              </a:rPr>
              <a:t>Trigger injectable (mocké en tests)</a:t>
            </a:r>
            <a:r>
              <a:rPr sz="1150">
                <a:solidFill>
                  <a:srgbClr val="A09B8C"/>
                </a:solidFill>
                <a:latin typeface="Calibri"/>
              </a:rPr>
              <a:t>  —  testable sans DB live</a:t>
            </a:r>
          </a:p>
        </p:txBody>
      </p:sp>
      <p:sp>
        <p:nvSpPr>
          <p:cNvPr id="11" name="Rounded Rectangle 10"/>
          <p:cNvSpPr/>
          <p:nvPr/>
        </p:nvSpPr>
        <p:spPr>
          <a:xfrm>
            <a:off x="6309360" y="1691640"/>
            <a:ext cx="5303520" cy="4389120"/>
          </a:xfrm>
          <a:prstGeom prst="roundRect">
            <a:avLst/>
          </a:prstGeom>
          <a:solidFill>
            <a:srgbClr val="16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874519"/>
            <a:ext cx="475488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DESIGN FAIL-SAFE (partout)</a:t>
            </a:r>
          </a:p>
        </p:txBody>
      </p:sp>
      <p:sp>
        <p:nvSpPr>
          <p:cNvPr id="13" name="TextBox 12"/>
          <p:cNvSpPr txBox="1"/>
          <p:nvPr/>
        </p:nvSpPr>
        <p:spPr>
          <a:xfrm>
            <a:off x="6583680" y="2331720"/>
            <a:ext cx="4754880" cy="3566160"/>
          </a:xfrm>
          <a:prstGeom prst="rect">
            <a:avLst/>
          </a:prstGeom>
          <a:noFill/>
        </p:spPr>
        <p:txBody>
          <a:bodyPr wrap="square">
            <a:spAutoFit/>
          </a:bodyPr>
          <a:lstStyle/>
          <a:p>
            <a:pPr>
              <a:lnSpc>
                <a:spcPct val="105000"/>
              </a:lnSpc>
              <a:spcBef>
                <a:spcPts val="0"/>
              </a:spcBef>
              <a:spcAft>
                <a:spcPts val="1100"/>
              </a:spcAft>
            </a:pPr>
            <a:r>
              <a:rPr sz="1250" b="1">
                <a:solidFill>
                  <a:srgbClr val="0AC8B9"/>
                </a:solidFill>
                <a:latin typeface="Calibri"/>
              </a:rPr>
              <a:t>▸ </a:t>
            </a:r>
            <a:r>
              <a:rPr sz="1250" b="1">
                <a:solidFill>
                  <a:srgbClr val="F0E6D2"/>
                </a:solidFill>
                <a:latin typeface="Calibri"/>
              </a:rPr>
              <a:t>Synthétique par défaut</a:t>
            </a:r>
            <a:r>
              <a:rPr sz="1150">
                <a:solidFill>
                  <a:srgbClr val="A09B8C"/>
                </a:solidFill>
                <a:latin typeface="Calibri"/>
              </a:rPr>
              <a:t>  —  make_synthetic_frames · pas besoin du dump de 747 Mo</a:t>
            </a:r>
          </a:p>
          <a:p>
            <a:pPr>
              <a:lnSpc>
                <a:spcPct val="105000"/>
              </a:lnSpc>
              <a:spcBef>
                <a:spcPts val="0"/>
              </a:spcBef>
              <a:spcAft>
                <a:spcPts val="1100"/>
              </a:spcAft>
            </a:pPr>
            <a:r>
              <a:rPr sz="1250" b="1">
                <a:solidFill>
                  <a:srgbClr val="0AC8B9"/>
                </a:solidFill>
                <a:latin typeface="Calibri"/>
              </a:rPr>
              <a:t>▸ </a:t>
            </a:r>
            <a:r>
              <a:rPr sz="1250" b="1">
                <a:solidFill>
                  <a:srgbClr val="F0E6D2"/>
                </a:solidFill>
                <a:latin typeface="Calibri"/>
              </a:rPr>
              <a:t>DB seulement si DRIFT_USE_DB=1</a:t>
            </a:r>
            <a:r>
              <a:rPr sz="1150">
                <a:solidFill>
                  <a:srgbClr val="A09B8C"/>
                </a:solidFill>
                <a:latin typeface="Calibri"/>
              </a:rPr>
              <a:t>  —  pré-check TCP ~3 s, sinon fallback synthétique</a:t>
            </a:r>
          </a:p>
          <a:p>
            <a:pPr>
              <a:lnSpc>
                <a:spcPct val="105000"/>
              </a:lnSpc>
              <a:spcBef>
                <a:spcPts val="0"/>
              </a:spcBef>
              <a:spcAft>
                <a:spcPts val="1100"/>
              </a:spcAft>
            </a:pPr>
            <a:r>
              <a:rPr sz="1250" b="1">
                <a:solidFill>
                  <a:srgbClr val="0AC8B9"/>
                </a:solidFill>
                <a:latin typeface="Calibri"/>
              </a:rPr>
              <a:t>▸ </a:t>
            </a:r>
            <a:r>
              <a:rPr sz="1250" b="1">
                <a:solidFill>
                  <a:srgbClr val="F0E6D2"/>
                </a:solidFill>
                <a:latin typeface="Calibri"/>
              </a:rPr>
              <a:t>Sans Evidently → NO-OP</a:t>
            </a:r>
            <a:r>
              <a:rPr sz="1150">
                <a:solidFill>
                  <a:srgbClr val="A09B8C"/>
                </a:solidFill>
                <a:latin typeface="Calibri"/>
              </a:rPr>
              <a:t>  —  le module s'importe quand même, tests intacts</a:t>
            </a:r>
          </a:p>
          <a:p>
            <a:pPr>
              <a:lnSpc>
                <a:spcPct val="105000"/>
              </a:lnSpc>
              <a:spcBef>
                <a:spcPts val="0"/>
              </a:spcBef>
              <a:spcAft>
                <a:spcPts val="1100"/>
              </a:spcAft>
            </a:pPr>
            <a:r>
              <a:rPr sz="1250" b="1">
                <a:solidFill>
                  <a:srgbClr val="0AC8B9"/>
                </a:solidFill>
                <a:latin typeface="Calibri"/>
              </a:rPr>
              <a:t>▸ </a:t>
            </a:r>
            <a:r>
              <a:rPr sz="1250" b="1">
                <a:solidFill>
                  <a:srgbClr val="F0E6D2"/>
                </a:solidFill>
                <a:latin typeface="Calibri"/>
              </a:rPr>
              <a:t>Sans libs Prometheus → stub 200</a:t>
            </a:r>
            <a:r>
              <a:rPr sz="1150">
                <a:solidFill>
                  <a:srgbClr val="A09B8C"/>
                </a:solidFill>
                <a:latin typeface="Calibri"/>
              </a:rPr>
              <a:t>  —  /metrics répond toujours (api/app/main.py)</a:t>
            </a:r>
          </a:p>
          <a:p>
            <a:pPr>
              <a:lnSpc>
                <a:spcPct val="105000"/>
              </a:lnSpc>
              <a:spcBef>
                <a:spcPts val="0"/>
              </a:spcBef>
              <a:spcAft>
                <a:spcPts val="1100"/>
              </a:spcAft>
            </a:pPr>
            <a:r>
              <a:rPr sz="1250" b="1">
                <a:solidFill>
                  <a:srgbClr val="0AC8B9"/>
                </a:solidFill>
                <a:latin typeface="Calibri"/>
              </a:rPr>
              <a:t>▸ </a:t>
            </a:r>
            <a:r>
              <a:rPr sz="1250" b="1">
                <a:solidFill>
                  <a:srgbClr val="F0E6D2"/>
                </a:solidFill>
                <a:latin typeface="Calibri"/>
              </a:rPr>
              <a:t>Synthétique normal : drift_share ≈ 0</a:t>
            </a:r>
            <a:r>
              <a:rPr sz="1150">
                <a:solidFill>
                  <a:srgbClr val="A09B8C"/>
                </a:solidFill>
                <a:latin typeface="Calibri"/>
              </a:rPr>
              <a:t>  —  --force-drift pour forcer RETRAIN en démo</a:t>
            </a:r>
          </a:p>
        </p:txBody>
      </p:sp>
      <p:sp>
        <p:nvSpPr>
          <p:cNvPr id="14" name="TextBox 13"/>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5" name="TextBox 14"/>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23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4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C8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84048"/>
            <a:ext cx="10972800" cy="3657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300" b="1">
                <a:solidFill>
                  <a:srgbClr val="0AC8B9"/>
                </a:solidFill>
                <a:latin typeface="Calibri"/>
              </a:rPr>
              <a:t>ANNEXE · RUNBOOK</a:t>
            </a:r>
          </a:p>
        </p:txBody>
      </p:sp>
      <p:sp>
        <p:nvSpPr>
          <p:cNvPr id="5" name="TextBox 4"/>
          <p:cNvSpPr txBox="1"/>
          <p:nvPr/>
        </p:nvSpPr>
        <p:spPr>
          <a:xfrm>
            <a:off x="502920" y="749808"/>
            <a:ext cx="11247120" cy="82296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2900" b="1">
                <a:solidFill>
                  <a:srgbClr val="F0E6D2"/>
                </a:solidFill>
                <a:latin typeface="Calibri"/>
              </a:rPr>
              <a:t>Commandes de démo par composant</a:t>
            </a:r>
          </a:p>
        </p:txBody>
      </p:sp>
      <p:sp>
        <p:nvSpPr>
          <p:cNvPr id="6" name="Rounded Rectangle 5"/>
          <p:cNvSpPr/>
          <p:nvPr/>
        </p:nvSpPr>
        <p:spPr>
          <a:xfrm>
            <a:off x="548640" y="1691640"/>
            <a:ext cx="5486400" cy="1572768"/>
          </a:xfrm>
          <a:prstGeom prst="roundRect">
            <a:avLst/>
          </a:prstGeom>
          <a:solidFill>
            <a:srgbClr val="060E1C"/>
          </a:solidFill>
          <a:ln w="12700">
            <a:solidFill>
              <a:srgbClr val="E84B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01368"/>
            <a:ext cx="5120640" cy="320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E84B55"/>
                </a:solidFill>
                <a:latin typeface="Calibri"/>
              </a:rPr>
              <a:t>DRIFT (sans Docker ni dump)</a:t>
            </a:r>
          </a:p>
        </p:txBody>
      </p:sp>
      <p:sp>
        <p:nvSpPr>
          <p:cNvPr id="8" name="TextBox 7"/>
          <p:cNvSpPr txBox="1"/>
          <p:nvPr/>
        </p:nvSpPr>
        <p:spPr>
          <a:xfrm>
            <a:off x="777240" y="2167128"/>
            <a:ext cx="5074920" cy="1024128"/>
          </a:xfrm>
          <a:prstGeom prst="rect">
            <a:avLst/>
          </a:prstGeom>
          <a:noFill/>
        </p:spPr>
        <p:txBody>
          <a:bodyPr wrap="square">
            <a:spAutoFit/>
          </a:bodyPr>
          <a:lstStyle/>
          <a:p>
            <a:pPr>
              <a:spcAft>
                <a:spcPts val="400"/>
              </a:spcAft>
            </a:pPr>
            <a:r>
              <a:rPr sz="1150" b="1">
                <a:solidFill>
                  <a:srgbClr val="0AC8B9"/>
                </a:solidFill>
                <a:latin typeface="Consolas"/>
              </a:rPr>
              <a:t>make drift</a:t>
            </a:r>
            <a:r>
              <a:rPr sz="1000">
                <a:solidFill>
                  <a:srgbClr val="A09B8C"/>
                </a:solidFill>
                <a:latin typeface="Calibri"/>
              </a:rPr>
              <a:t>  rapport synthétique → monitoring/drift/reports/</a:t>
            </a:r>
          </a:p>
          <a:p>
            <a:pPr>
              <a:spcAft>
                <a:spcPts val="400"/>
              </a:spcAft>
            </a:pPr>
            <a:r>
              <a:rPr sz="1150" b="1">
                <a:solidFill>
                  <a:srgbClr val="0AC8B9"/>
                </a:solidFill>
                <a:latin typeface="Consolas"/>
              </a:rPr>
              <a:t>drift_report.py --drift</a:t>
            </a:r>
            <a:r>
              <a:rPr sz="1000">
                <a:solidFill>
                  <a:srgbClr val="A09B8C"/>
                </a:solidFill>
                <a:latin typeface="Calibri"/>
              </a:rPr>
              <a:t>  force un courant drifté (démo)</a:t>
            </a:r>
          </a:p>
          <a:p>
            <a:pPr>
              <a:spcAft>
                <a:spcPts val="400"/>
              </a:spcAft>
            </a:pPr>
            <a:r>
              <a:rPr sz="1150" b="1">
                <a:solidFill>
                  <a:srgbClr val="0AC8B9"/>
                </a:solidFill>
                <a:latin typeface="Consolas"/>
              </a:rPr>
              <a:t>DRIFT_USE_DB=1 drift_report.py</a:t>
            </a:r>
            <a:r>
              <a:rPr sz="1000">
                <a:solidFill>
                  <a:srgbClr val="A09B8C"/>
                </a:solidFill>
                <a:latin typeface="Calibri"/>
              </a:rPr>
              <a:t>  vraie base (Postgres + dump requis)</a:t>
            </a:r>
          </a:p>
        </p:txBody>
      </p:sp>
      <p:sp>
        <p:nvSpPr>
          <p:cNvPr id="9" name="Rounded Rectangle 8"/>
          <p:cNvSpPr/>
          <p:nvPr/>
        </p:nvSpPr>
        <p:spPr>
          <a:xfrm>
            <a:off x="548640" y="3493008"/>
            <a:ext cx="5486400" cy="1883664"/>
          </a:xfrm>
          <a:prstGeom prst="roundRect">
            <a:avLst/>
          </a:prstGeom>
          <a:solidFill>
            <a:srgbClr val="060E1C"/>
          </a:solidFill>
          <a:ln w="12700">
            <a:solidFill>
              <a:srgbClr val="C8AA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602736"/>
            <a:ext cx="5120640" cy="320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C8AA6E"/>
                </a:solidFill>
                <a:latin typeface="Calibri"/>
              </a:rPr>
              <a:t>AUTO-RETRAIN</a:t>
            </a:r>
          </a:p>
        </p:txBody>
      </p:sp>
      <p:sp>
        <p:nvSpPr>
          <p:cNvPr id="11" name="TextBox 10"/>
          <p:cNvSpPr txBox="1"/>
          <p:nvPr/>
        </p:nvSpPr>
        <p:spPr>
          <a:xfrm>
            <a:off x="777240" y="3968496"/>
            <a:ext cx="5074920" cy="1335024"/>
          </a:xfrm>
          <a:prstGeom prst="rect">
            <a:avLst/>
          </a:prstGeom>
          <a:noFill/>
        </p:spPr>
        <p:txBody>
          <a:bodyPr wrap="square">
            <a:spAutoFit/>
          </a:bodyPr>
          <a:lstStyle/>
          <a:p>
            <a:pPr>
              <a:spcAft>
                <a:spcPts val="400"/>
              </a:spcAft>
            </a:pPr>
            <a:r>
              <a:rPr sz="1150" b="1">
                <a:solidFill>
                  <a:srgbClr val="0AC8B9"/>
                </a:solidFill>
                <a:latin typeface="Consolas"/>
              </a:rPr>
              <a:t>make retrain</a:t>
            </a:r>
            <a:r>
              <a:rPr sz="1000">
                <a:solidFill>
                  <a:srgbClr val="A09B8C"/>
                </a:solidFill>
                <a:latin typeface="Calibri"/>
              </a:rPr>
              <a:t>  dry-run : décide, n'entraîne jamais</a:t>
            </a:r>
          </a:p>
          <a:p>
            <a:pPr>
              <a:spcAft>
                <a:spcPts val="400"/>
              </a:spcAft>
            </a:pPr>
            <a:r>
              <a:rPr sz="1150" b="1">
                <a:solidFill>
                  <a:srgbClr val="0AC8B9"/>
                </a:solidFill>
                <a:latin typeface="Consolas"/>
              </a:rPr>
              <a:t>auto_retrain.py --force-drift</a:t>
            </a:r>
            <a:r>
              <a:rPr sz="1000">
                <a:solidFill>
                  <a:srgbClr val="A09B8C"/>
                </a:solidFill>
                <a:latin typeface="Calibri"/>
              </a:rPr>
              <a:t>  force RETRAIN (stack/DB requis)</a:t>
            </a:r>
          </a:p>
          <a:p>
            <a:pPr>
              <a:spcAft>
                <a:spcPts val="400"/>
              </a:spcAft>
            </a:pPr>
            <a:r>
              <a:rPr sz="1150" b="1">
                <a:solidFill>
                  <a:srgbClr val="0AC8B9"/>
                </a:solidFill>
                <a:latin typeface="Consolas"/>
              </a:rPr>
              <a:t>auto_retrain.py --dry-run --force-drift</a:t>
            </a:r>
            <a:r>
              <a:rPr sz="1000">
                <a:solidFill>
                  <a:srgbClr val="A09B8C"/>
                </a:solidFill>
                <a:latin typeface="Calibri"/>
              </a:rPr>
              <a:t>  voir la décision sans entraîner</a:t>
            </a:r>
          </a:p>
          <a:p>
            <a:pPr>
              <a:spcAft>
                <a:spcPts val="400"/>
              </a:spcAft>
            </a:pPr>
            <a:r>
              <a:rPr sz="1150" b="1">
                <a:solidFill>
                  <a:srgbClr val="0AC8B9"/>
                </a:solidFill>
                <a:latin typeface="Consolas"/>
              </a:rPr>
              <a:t>auto_retrain.py --threshold 0.3</a:t>
            </a:r>
            <a:r>
              <a:rPr sz="1000">
                <a:solidFill>
                  <a:srgbClr val="A09B8C"/>
                </a:solidFill>
                <a:latin typeface="Calibri"/>
              </a:rPr>
              <a:t>  seuil personnalisé</a:t>
            </a:r>
          </a:p>
        </p:txBody>
      </p:sp>
      <p:sp>
        <p:nvSpPr>
          <p:cNvPr id="12" name="Rounded Rectangle 11"/>
          <p:cNvSpPr/>
          <p:nvPr/>
        </p:nvSpPr>
        <p:spPr>
          <a:xfrm>
            <a:off x="6309360" y="1691640"/>
            <a:ext cx="5303520" cy="2194560"/>
          </a:xfrm>
          <a:prstGeom prst="roundRect">
            <a:avLst/>
          </a:prstGeom>
          <a:solidFill>
            <a:srgbClr val="060E1C"/>
          </a:solidFill>
          <a:ln w="12700">
            <a:solidFill>
              <a:srgbClr val="3D9D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801368"/>
            <a:ext cx="4937760" cy="320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3D9DF3"/>
                </a:solidFill>
                <a:latin typeface="Calibri"/>
              </a:rPr>
              <a:t>MONITORING (Docker requis)</a:t>
            </a:r>
          </a:p>
        </p:txBody>
      </p:sp>
      <p:sp>
        <p:nvSpPr>
          <p:cNvPr id="14" name="TextBox 13"/>
          <p:cNvSpPr txBox="1"/>
          <p:nvPr/>
        </p:nvSpPr>
        <p:spPr>
          <a:xfrm>
            <a:off x="6537960" y="2167128"/>
            <a:ext cx="4892040" cy="1645920"/>
          </a:xfrm>
          <a:prstGeom prst="rect">
            <a:avLst/>
          </a:prstGeom>
          <a:noFill/>
        </p:spPr>
        <p:txBody>
          <a:bodyPr wrap="square">
            <a:spAutoFit/>
          </a:bodyPr>
          <a:lstStyle/>
          <a:p>
            <a:pPr>
              <a:spcAft>
                <a:spcPts val="400"/>
              </a:spcAft>
            </a:pPr>
            <a:r>
              <a:rPr sz="1150" b="1">
                <a:solidFill>
                  <a:srgbClr val="0AC8B9"/>
                </a:solidFill>
                <a:latin typeface="Consolas"/>
              </a:rPr>
              <a:t>make monitoring-up</a:t>
            </a:r>
            <a:r>
              <a:rPr sz="1000">
                <a:solidFill>
                  <a:srgbClr val="A09B8C"/>
                </a:solidFill>
                <a:latin typeface="Calibri"/>
              </a:rPr>
              <a:t>  api + prometheus + grafana</a:t>
            </a:r>
          </a:p>
          <a:p>
            <a:pPr>
              <a:spcAft>
                <a:spcPts val="400"/>
              </a:spcAft>
            </a:pPr>
            <a:r>
              <a:rPr sz="1150" b="1">
                <a:solidFill>
                  <a:srgbClr val="0AC8B9"/>
                </a:solidFill>
                <a:latin typeface="Consolas"/>
              </a:rPr>
              <a:t>curl localhost:8000/metrics</a:t>
            </a:r>
            <a:r>
              <a:rPr sz="1000">
                <a:solidFill>
                  <a:srgbClr val="A09B8C"/>
                </a:solidFill>
                <a:latin typeface="Calibri"/>
              </a:rPr>
              <a:t>  génère du trafic</a:t>
            </a:r>
          </a:p>
          <a:p>
            <a:pPr>
              <a:spcAft>
                <a:spcPts val="400"/>
              </a:spcAft>
            </a:pPr>
            <a:r>
              <a:rPr sz="1150" b="1">
                <a:solidFill>
                  <a:srgbClr val="0AC8B9"/>
                </a:solidFill>
                <a:latin typeface="Consolas"/>
              </a:rPr>
              <a:t>localhost:9090</a:t>
            </a:r>
            <a:r>
              <a:rPr sz="1000">
                <a:solidFill>
                  <a:srgbClr val="A09B8C"/>
                </a:solidFill>
                <a:latin typeface="Calibri"/>
              </a:rPr>
              <a:t>  PromQL : lol_predictions_total</a:t>
            </a:r>
          </a:p>
          <a:p>
            <a:pPr>
              <a:spcAft>
                <a:spcPts val="400"/>
              </a:spcAft>
            </a:pPr>
            <a:r>
              <a:rPr sz="1150" b="1">
                <a:solidFill>
                  <a:srgbClr val="0AC8B9"/>
                </a:solidFill>
                <a:latin typeface="Consolas"/>
              </a:rPr>
              <a:t>localhost:3000</a:t>
            </a:r>
            <a:r>
              <a:rPr sz="1000">
                <a:solidFill>
                  <a:srgbClr val="A09B8C"/>
                </a:solidFill>
                <a:latin typeface="Calibri"/>
              </a:rPr>
              <a:t>  dashboard Grafana (creds .env)</a:t>
            </a:r>
          </a:p>
          <a:p>
            <a:pPr>
              <a:spcAft>
                <a:spcPts val="400"/>
              </a:spcAft>
            </a:pPr>
            <a:r>
              <a:rPr sz="1150" b="1">
                <a:solidFill>
                  <a:srgbClr val="0AC8B9"/>
                </a:solidFill>
                <a:latin typeface="Consolas"/>
              </a:rPr>
              <a:t>make monitoring-down</a:t>
            </a:r>
            <a:r>
              <a:rPr sz="1000">
                <a:solidFill>
                  <a:srgbClr val="A09B8C"/>
                </a:solidFill>
                <a:latin typeface="Calibri"/>
              </a:rPr>
              <a:t>  stoppe prometheus + grafana</a:t>
            </a:r>
          </a:p>
        </p:txBody>
      </p:sp>
      <p:sp>
        <p:nvSpPr>
          <p:cNvPr id="15" name="Rounded Rectangle 14"/>
          <p:cNvSpPr/>
          <p:nvPr/>
        </p:nvSpPr>
        <p:spPr>
          <a:xfrm>
            <a:off x="6309360" y="4114800"/>
            <a:ext cx="5303520" cy="1261872"/>
          </a:xfrm>
          <a:prstGeom prst="roundRect">
            <a:avLst/>
          </a:prstGeom>
          <a:solidFill>
            <a:srgbClr val="060E1C"/>
          </a:solidFill>
          <a:ln w="12700">
            <a:solidFill>
              <a:srgbClr val="4CC97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4224528"/>
            <a:ext cx="4937760" cy="320040"/>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1250" b="1">
                <a:solidFill>
                  <a:srgbClr val="4CC97E"/>
                </a:solidFill>
                <a:latin typeface="Calibri"/>
              </a:rPr>
              <a:t>TESTS DE LA CHAÎNE (offline)</a:t>
            </a:r>
          </a:p>
        </p:txBody>
      </p:sp>
      <p:sp>
        <p:nvSpPr>
          <p:cNvPr id="17" name="TextBox 16"/>
          <p:cNvSpPr txBox="1"/>
          <p:nvPr/>
        </p:nvSpPr>
        <p:spPr>
          <a:xfrm>
            <a:off x="6537960" y="4590288"/>
            <a:ext cx="4892040" cy="713232"/>
          </a:xfrm>
          <a:prstGeom prst="rect">
            <a:avLst/>
          </a:prstGeom>
          <a:noFill/>
        </p:spPr>
        <p:txBody>
          <a:bodyPr wrap="square">
            <a:spAutoFit/>
          </a:bodyPr>
          <a:lstStyle/>
          <a:p>
            <a:pPr>
              <a:spcAft>
                <a:spcPts val="400"/>
              </a:spcAft>
            </a:pPr>
            <a:r>
              <a:rPr sz="1150" b="1">
                <a:solidFill>
                  <a:srgbClr val="0AC8B9"/>
                </a:solidFill>
                <a:latin typeface="Consolas"/>
              </a:rPr>
              <a:t>pytest api/tests/test_metrics.py</a:t>
            </a:r>
            <a:r>
              <a:rPr sz="1000">
                <a:solidFill>
                  <a:srgbClr val="A09B8C"/>
                </a:solidFill>
                <a:latin typeface="Calibri"/>
              </a:rPr>
              <a:t>  + test_drift_report.py + test_auto_retrain.py</a:t>
            </a:r>
          </a:p>
          <a:p>
            <a:pPr>
              <a:spcAft>
                <a:spcPts val="400"/>
              </a:spcAft>
            </a:pPr>
            <a:r>
              <a:rPr sz="1150" b="1">
                <a:solidFill>
                  <a:srgbClr val="0AC8B9"/>
                </a:solidFill>
                <a:latin typeface="Consolas"/>
              </a:rPr>
              <a:t>pytest -q</a:t>
            </a:r>
            <a:r>
              <a:rPr sz="1000">
                <a:solidFill>
                  <a:srgbClr val="A09B8C"/>
                </a:solidFill>
                <a:latin typeface="Calibri"/>
              </a:rPr>
              <a:t>  les 47 tests, sans Docker ni DB</a:t>
            </a:r>
          </a:p>
        </p:txBody>
      </p:sp>
      <p:sp>
        <p:nvSpPr>
          <p:cNvPr id="18" name="TextBox 17"/>
          <p:cNvSpPr txBox="1"/>
          <p:nvPr/>
        </p:nvSpPr>
        <p:spPr>
          <a:xfrm>
            <a:off x="10424160" y="6437376"/>
            <a:ext cx="1645920" cy="292608"/>
          </a:xfrm>
          <a:prstGeom prst="rect">
            <a:avLst/>
          </a:prstGeom>
          <a:noFill/>
        </p:spPr>
        <p:txBody>
          <a:bodyPr wrap="square" anchor="t" lIns="25400" rIns="25400" tIns="12700" bIns="12700">
            <a:spAutoFit/>
          </a:bodyPr>
          <a:lstStyle/>
          <a:p>
            <a:pPr algn="r">
              <a:lnSpc>
                <a:spcPct val="100000"/>
              </a:lnSpc>
              <a:spcBef>
                <a:spcPts val="0"/>
              </a:spcBef>
              <a:spcAft>
                <a:spcPts val="600"/>
              </a:spcAft>
            </a:pPr>
            <a:r>
              <a:rPr sz="800" b="0">
                <a:solidFill>
                  <a:srgbClr val="A09B8C"/>
                </a:solidFill>
                <a:latin typeface="Calibri"/>
              </a:rPr>
              <a:t>LoL Draft Predictor · MLOps</a:t>
            </a:r>
          </a:p>
        </p:txBody>
      </p:sp>
      <p:sp>
        <p:nvSpPr>
          <p:cNvPr id="19" name="TextBox 18"/>
          <p:cNvSpPr txBox="1"/>
          <p:nvPr/>
        </p:nvSpPr>
        <p:spPr>
          <a:xfrm>
            <a:off x="502920" y="6437376"/>
            <a:ext cx="914400" cy="292608"/>
          </a:xfrm>
          <a:prstGeom prst="rect">
            <a:avLst/>
          </a:prstGeom>
          <a:noFill/>
        </p:spPr>
        <p:txBody>
          <a:bodyPr wrap="square" anchor="t" lIns="25400" rIns="25400" tIns="12700" bIns="12700">
            <a:spAutoFit/>
          </a:bodyPr>
          <a:lstStyle/>
          <a:p>
            <a:pPr algn="l">
              <a:lnSpc>
                <a:spcPct val="100000"/>
              </a:lnSpc>
              <a:spcBef>
                <a:spcPts val="0"/>
              </a:spcBef>
              <a:spcAft>
                <a:spcPts val="600"/>
              </a:spcAft>
            </a:pPr>
            <a:r>
              <a:rPr sz="900" b="1">
                <a:solidFill>
                  <a:srgbClr val="C8AA6E"/>
                </a:solidFill>
                <a:latin typeface="Calibr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